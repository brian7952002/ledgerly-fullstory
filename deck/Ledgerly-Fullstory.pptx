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2b8a04b-42ac-29e6-c2c3-7882fbb45f5e}">
          <p14:sldIdLst>
            <p14:sldId id="256"/>
          </p14:sldIdLst>
        </p14:section>
        <p14:section name="Problem" id="{91d4806a-7d43-34a5-122c-6a8255c07e52}">
          <p14:sldIdLst>
            <p14:sldId id="257"/>
          </p14:sldIdLst>
        </p14:section>
        <p14:section name="Approach" id="{1f3d4e95-a651-eda5-fdb0-ddf08d60dc94}">
          <p14:sldIdLst>
            <p14:sldId id="258"/>
          </p14:sldIdLst>
        </p14:section>
        <p14:section name="Fullstory" id="{43cd4cd8-230c-95f5-e3d9-087e14b2d85b}">
          <p14:sldIdLst>
            <p14:sldId id="259"/>
          </p14:sldIdLst>
        </p14:section>
        <p14:section name="Findings" id="{53e79346-9a72-4fa7-1545-a70b75e51f9e}">
          <p14:sldIdLst>
            <p14:sldId id="260"/>
          </p14:sldIdLst>
        </p14:section>
        <p14:section name="Impact" id="{d1812f67-b6b5-71be-4508-08aad55e86d3}">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Pricing-page experiment: % of exposed visitors</a:t>
            </a:r>
          </a:p>
        </c:rich>
      </c:tx>
      <c:layout/>
      <c:overlay val="0"/>
    </c:title>
    <c:autoTitleDeleted val="0"/>
    <c:plotArea>
      <c:layout/>
      <c:barChart>
        <c:barDir val="col"/>
        <c:grouping val="clustered"/>
        <c:varyColors val="0"/>
        <c:ser>
          <c:idx val="0"/>
          <c:order val="0"/>
          <c:tx>
            <c:strRef>
              <c:f>Sheet1!$B$1</c:f>
              <c:strCache>
                <c:ptCount val="1"/>
                <c:pt idx="0">
                  <c:v>Signup rate</c:v>
                </c:pt>
              </c:strCache>
            </c:strRef>
          </c:tx>
          <c:spPr>
            <a:solidFill>
              <a:srgbClr val="4F46E5"/>
            </a:solidFill>
            <a:effectLst/>
          </c:spPr>
          <c:invertIfNegative val="0"/>
          <c:dLbls>
            <c:numFmt formatCode="0.0&quot;%&quot;"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cat>
            <c:multiLvlStrRef>
              <c:f>Sheet1!$A$2:$A$3</c:f>
              <c:multiLvlStrCache>
                <c:ptCount val="2"/>
                <c:lvl>
                  <c:pt idx="0">
                    <c:v>control</c:v>
                  </c:pt>
                  <c:pt idx="1">
                    <c:v>annual_toggle</c:v>
                  </c:pt>
                </c:lvl>
              </c:multiLvlStrCache>
            </c:multiLvlStrRef>
          </c:cat>
          <c:val>
            <c:numRef>
              <c:f>Sheet1!$B$2:$B$3</c:f>
              <c:numCache>
                <c:formatCode>General</c:formatCode>
                <c:ptCount val="2"/>
                <c:pt idx="0">
                  <c:v>44.9</c:v>
                </c:pt>
                <c:pt idx="1">
                  <c:v>50</c:v>
                </c:pt>
              </c:numCache>
            </c:numRef>
          </c:val>
        </c:ser>
        <c:ser>
          <c:idx val="1"/>
          <c:order val="1"/>
          <c:tx>
            <c:strRef>
              <c:f>Sheet1!$C$1</c:f>
              <c:strCache>
                <c:ptCount val="1"/>
                <c:pt idx="0">
                  <c:v>Paid customers per 100 visitors</c:v>
                </c:pt>
              </c:strCache>
            </c:strRef>
          </c:tx>
          <c:spPr>
            <a:solidFill>
              <a:srgbClr val="10B981"/>
            </a:solidFill>
            <a:effectLst/>
          </c:spPr>
          <c:invertIfNegative val="0"/>
          <c:dLbls>
            <c:numFmt formatCode="0.0&quot;%&quot;"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cat>
            <c:multiLvlStrRef>
              <c:f>Sheet1!$A$2:$A$3</c:f>
              <c:multiLvlStrCache>
                <c:ptCount val="2"/>
                <c:lvl>
                  <c:pt idx="0">
                    <c:v>control</c:v>
                  </c:pt>
                  <c:pt idx="1">
                    <c:v>annual_toggle</c:v>
                  </c:pt>
                </c:lvl>
              </c:multiLvlStrCache>
            </c:multiLvlStrRef>
          </c:cat>
          <c:val>
            <c:numRef>
              <c:f>Sheet1!$C$2:$C$3</c:f>
              <c:numCache>
                <c:formatCode>General</c:formatCode>
                <c:ptCount val="2"/>
                <c:pt idx="0">
                  <c:v>13</c:v>
                </c:pt>
                <c:pt idx="1">
                  <c:v>1.5</c:v>
                </c:pt>
              </c:numCache>
            </c:numRef>
          </c:val>
        </c:ser>
        <c:dLbls>
          <c:numFmt formatCode="0.0&quot;%&quot;"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F3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Ledgerly is a product-led invoicing app for freelancers. 14-day trial, $19/mo Pro. Marketing owns acquisition and the pricing-page experiment. They asked one question: are our campaigns and experiments producing the conversions we intended? Spoiler: the funnel bar that matters is the green one, and today nobody on Marketing can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Stakeholder: Growth Marketing. Their tools (ad platform, A/B tool) stop measuring at signup. Revenue happens 14 days later in billing, and behavior isn't measured at all. So they can't answer the questions they own: should we ship the new pricing page, and which campaigns deserve budget? Pendo parallel: in Pendo, a guide can show great click-through while the feature it promotes still isn't adopted. Same trap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one user. The browser sends attribution (first-touch as user properties, last-touch on every event), experiment exposure, and funnel events through one wrapper that enforces the tracking plan. Billing is the system of record for revenue, so trial outcomes go through the Server API v2 with idempotency keys, joined on the same internal uid used in setIdentity. Tradeoffs: server events with no session count against quota, so only outcome events go server-side. Exposure fires when the variant renders, not at assignment, so the test isn't diluted. I deliberately left out Segment/warehouse export: it's the right answer at scale, but Marketing's question is answered fastest inside Fullstory.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slide; switch to Fullstory here. Order: 1) live site with UTM link and console showing every FS call, rage-click the Monthly toggle, sign up (show masking). 2) Ops console: A/B readout says ship B; run billing cycle, show Server API calls. 3) In Fullstory: segments, the funnel split by variant (B wins the top, loses the bottom), rage/error clicks by variant, jump into a replay, then the scorecard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traffic is simulated and the story is planted, so the point is the method, not the numbers. The A/B tool's readout (signup rate) says annual_toggle wins by 11%. Once billing outcomes are on the same users in Fullstory, it converts -88% worse to paid per visitor. The replay shows why: the Monthly label throws a TypeError, so people who want monthly billing rage-click and either leave or end up on an annual price they didn't choose. Inside the variant, users who hit the broken toggle paid at 0% vs 8% for everyone else; that split is a segment in Fullstory (rage-clicked the toggle vs not). Sample is small (n=137), so I'd call this directional and re-run the fixed test sized on paid conversion. The funnel says what happened; replay says why. Campaign view: the promo fills the top of the funnel; partner traffic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avoiding one wrong ship decision. At these rates, shipping annual_toggle as-is loses about $19550 in new MRR per 10,000 pricing visitors. Annual plans are worth more per customer (cash up front, likely better retention), so the recommendation is not 'kill annual': it's fix the toggle and re-test on Trial Converted. Forcing annual on people who want monthly is the wrong trade. The fix is one line, found in one replay. Next steps: fix and re-test with revenue as the primary metric; shift budget toward partner traffic; make the scorecard a weekly ritual. Phase 2: Fullstory webhooks to alert Marketing when frustration spikes on a campaign landing page, Segment or warehouse export for finance-grade attribution, and a consent banner before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7665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886200"/>
            <a:ext cx="6400800" cy="128016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694944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1600200"/>
            <a:ext cx="6949440" cy="82296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5"/>
                </a:solidFill>
              </a:rPr>
              <a:t>Ledgerly x Fullstory  |  data is synthetic (simulated traffic)</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766560" cy="1737360"/>
          </a:xfrm>
          <a:prstGeom prst="rect">
            <a:avLst/>
          </a:prstGeom>
          <a:noFill/>
          <a:ln/>
        </p:spPr>
        <p:txBody>
          <a:bodyPr wrap="square" rtlCol="0" anchor="b"/>
          <a:lstStyle/>
          <a:p>
            <a:pPr algn="l" indent="0" marL="0">
              <a:buNone/>
            </a:pPr>
            <a:r>
              <a:rPr lang="en-US" sz="4400" b="1" dirty="0">
                <a:solidFill>
                  <a:schemeClr val="bg1"/>
                </a:solidFill>
              </a:rPr>
              <a:t>Did the campaign actually make money?</a:t>
            </a:r>
            <a:endParaRPr lang="en-US" sz="4400" dirty="0"/>
          </a:p>
        </p:txBody>
      </p:sp>
      <p:sp>
        <p:nvSpPr>
          <p:cNvPr id="3" name="Text 0"/>
          <p:cNvSpPr/>
          <p:nvPr>
            <p:ph idx="101" type="body" hasCustomPrompt="1"/>
          </p:nvPr>
        </p:nvSpPr>
        <p:spPr>
          <a:xfrm>
            <a:off x="731520" y="3886200"/>
            <a:ext cx="6400800" cy="1280160"/>
          </a:xfrm>
          <a:prstGeom prst="rect">
            <a:avLst/>
          </a:prstGeom>
          <a:noFill/>
          <a:ln/>
        </p:spPr>
        <p:txBody>
          <a:bodyPr wrap="square" rtlCol="0" anchor="t"/>
          <a:lstStyle/>
          <a:p>
            <a:pPr indent="0" marL="0">
              <a:buNone/>
            </a:pPr>
            <a:r>
              <a:rPr lang="en-US" sz="1800" dirty="0">
                <a:solidFill>
                  <a:schemeClr val="accent6"/>
                </a:solidFill>
              </a:rPr>
              <a:t>Connecting Marketing's campaigns and experiments to revenue, and to the behavior that explains it.</a:t>
            </a:r>
            <a:endParaRPr lang="en-US" sz="1800" dirty="0"/>
          </a:p>
        </p:txBody>
      </p:sp>
      <p:sp>
        <p:nvSpPr>
          <p:cNvPr id="4" name="Text 2"/>
          <p:cNvSpPr txBox="1"/>
          <p:nvPr/>
        </p:nvSpPr>
        <p:spPr>
          <a:xfrm>
            <a:off x="731520" y="5852160"/>
            <a:ext cx="6400800" cy="365760"/>
          </a:xfrm>
          <a:prstGeom prst="rect">
            <a:avLst/>
          </a:prstGeom>
          <a:noFill/>
          <a:ln/>
        </p:spPr>
        <p:txBody>
          <a:bodyPr wrap="square" lIns="0" tIns="0" rIns="0" bIns="0" rtlCol="0" anchor="ctr"/>
          <a:lstStyle/>
          <a:p>
            <a:pPr indent="0" marL="0">
              <a:buNone/>
            </a:pPr>
            <a:r>
              <a:rPr lang="en-US" sz="1400" dirty="0">
                <a:solidFill>
                  <a:schemeClr val="accent5"/>
                </a:solidFill>
              </a:rPr>
              <a:t>Ledgerly x Fullstory  |  Solutions Architect challenge</a:t>
            </a:r>
            <a:endParaRPr lang="en-US" sz="1400" dirty="0"/>
          </a:p>
        </p:txBody>
      </p:sp>
      <p:sp>
        <p:nvSpPr>
          <p:cNvPr id="5" name="funnel bar Clicked"/>
          <p:cNvSpPr/>
          <p:nvPr/>
        </p:nvSpPr>
        <p:spPr>
          <a:xfrm>
            <a:off x="7955280" y="1828800"/>
            <a:ext cx="3291840" cy="640080"/>
          </a:xfrm>
          <a:prstGeom prst="roundRect">
            <a:avLst>
              <a:gd name="adj" fmla="val 17143"/>
            </a:avLst>
          </a:prstGeom>
          <a:solidFill>
            <a:schemeClr val="accent1"/>
          </a:solidFill>
          <a:ln w="12700">
            <a:solidFill>
              <a:schemeClr val="accent1"/>
            </a:solidFill>
            <a:prstDash val="solid"/>
          </a:ln>
        </p:spPr>
      </p:sp>
      <p:sp>
        <p:nvSpPr>
          <p:cNvPr id="6" name="Text 4"/>
          <p:cNvSpPr txBox="1"/>
          <p:nvPr/>
        </p:nvSpPr>
        <p:spPr>
          <a:xfrm>
            <a:off x="8138160" y="1828800"/>
            <a:ext cx="3017520" cy="640080"/>
          </a:xfrm>
          <a:prstGeom prst="rect">
            <a:avLst/>
          </a:prstGeom>
          <a:noFill/>
          <a:ln/>
        </p:spPr>
        <p:txBody>
          <a:bodyPr wrap="square" lIns="0" tIns="0" rIns="0" bIns="0" rtlCol="0" anchor="ctr"/>
          <a:lstStyle/>
          <a:p>
            <a:pPr indent="0" marL="0">
              <a:buNone/>
            </a:pPr>
            <a:r>
              <a:rPr lang="en-US" sz="1600" b="1" dirty="0">
                <a:solidFill>
                  <a:schemeClr val="bg1"/>
                </a:solidFill>
              </a:rPr>
              <a:t>Clicked</a:t>
            </a:r>
            <a:endParaRPr lang="en-US" sz="1600" dirty="0"/>
          </a:p>
        </p:txBody>
      </p:sp>
      <p:sp>
        <p:nvSpPr>
          <p:cNvPr id="7" name="funnel bar Signed up"/>
          <p:cNvSpPr/>
          <p:nvPr/>
        </p:nvSpPr>
        <p:spPr>
          <a:xfrm>
            <a:off x="8503920" y="2697480"/>
            <a:ext cx="2743200" cy="640080"/>
          </a:xfrm>
          <a:prstGeom prst="roundRect">
            <a:avLst>
              <a:gd name="adj" fmla="val 17143"/>
            </a:avLst>
          </a:prstGeom>
          <a:solidFill>
            <a:schemeClr val="accent1"/>
          </a:solidFill>
          <a:ln w="12700">
            <a:solidFill>
              <a:schemeClr val="accent1"/>
            </a:solidFill>
            <a:prstDash val="solid"/>
          </a:ln>
        </p:spPr>
      </p:sp>
      <p:sp>
        <p:nvSpPr>
          <p:cNvPr id="8" name="Text 6"/>
          <p:cNvSpPr txBox="1"/>
          <p:nvPr/>
        </p:nvSpPr>
        <p:spPr>
          <a:xfrm>
            <a:off x="8686800" y="2697480"/>
            <a:ext cx="2468880" cy="640080"/>
          </a:xfrm>
          <a:prstGeom prst="rect">
            <a:avLst/>
          </a:prstGeom>
          <a:noFill/>
          <a:ln/>
        </p:spPr>
        <p:txBody>
          <a:bodyPr wrap="square" lIns="0" tIns="0" rIns="0" bIns="0" rtlCol="0" anchor="ctr"/>
          <a:lstStyle/>
          <a:p>
            <a:pPr indent="0" marL="0">
              <a:buNone/>
            </a:pPr>
            <a:r>
              <a:rPr lang="en-US" sz="1600" b="1" dirty="0">
                <a:solidFill>
                  <a:schemeClr val="bg1"/>
                </a:solidFill>
              </a:rPr>
              <a:t>Signed up</a:t>
            </a:r>
            <a:endParaRPr lang="en-US" sz="1600" dirty="0"/>
          </a:p>
        </p:txBody>
      </p:sp>
      <p:sp>
        <p:nvSpPr>
          <p:cNvPr id="9" name="funnel bar Sent 1st invoice"/>
          <p:cNvSpPr/>
          <p:nvPr/>
        </p:nvSpPr>
        <p:spPr>
          <a:xfrm>
            <a:off x="9144000" y="3566160"/>
            <a:ext cx="2103120" cy="640080"/>
          </a:xfrm>
          <a:prstGeom prst="roundRect">
            <a:avLst>
              <a:gd name="adj" fmla="val 17143"/>
            </a:avLst>
          </a:prstGeom>
          <a:solidFill>
            <a:schemeClr val="accent1"/>
          </a:solidFill>
          <a:ln w="12700">
            <a:solidFill>
              <a:schemeClr val="accent1"/>
            </a:solidFill>
            <a:prstDash val="solid"/>
          </a:ln>
        </p:spPr>
      </p:sp>
      <p:sp>
        <p:nvSpPr>
          <p:cNvPr id="10" name="Text 8"/>
          <p:cNvSpPr txBox="1"/>
          <p:nvPr/>
        </p:nvSpPr>
        <p:spPr>
          <a:xfrm>
            <a:off x="9326880" y="3566160"/>
            <a:ext cx="1828800" cy="640080"/>
          </a:xfrm>
          <a:prstGeom prst="rect">
            <a:avLst/>
          </a:prstGeom>
          <a:noFill/>
          <a:ln/>
        </p:spPr>
        <p:txBody>
          <a:bodyPr wrap="square" lIns="0" tIns="0" rIns="0" bIns="0" rtlCol="0" anchor="ctr"/>
          <a:lstStyle/>
          <a:p>
            <a:pPr indent="0" marL="0">
              <a:buNone/>
            </a:pPr>
            <a:r>
              <a:rPr lang="en-US" sz="1600" b="1" dirty="0">
                <a:solidFill>
                  <a:schemeClr val="bg1"/>
                </a:solidFill>
              </a:rPr>
              <a:t>Sent 1st invoice</a:t>
            </a:r>
            <a:endParaRPr lang="en-US" sz="1600" dirty="0"/>
          </a:p>
        </p:txBody>
      </p:sp>
      <p:sp>
        <p:nvSpPr>
          <p:cNvPr id="11" name="funnel bar Paid"/>
          <p:cNvSpPr/>
          <p:nvPr/>
        </p:nvSpPr>
        <p:spPr>
          <a:xfrm>
            <a:off x="9784080" y="4434840"/>
            <a:ext cx="1463040" cy="640080"/>
          </a:xfrm>
          <a:prstGeom prst="roundRect">
            <a:avLst>
              <a:gd name="adj" fmla="val 17143"/>
            </a:avLst>
          </a:prstGeom>
          <a:solidFill>
            <a:schemeClr val="accent2"/>
          </a:solidFill>
          <a:ln w="12700">
            <a:solidFill>
              <a:schemeClr val="accent2"/>
            </a:solidFill>
            <a:prstDash val="solid"/>
          </a:ln>
        </p:spPr>
      </p:sp>
      <p:sp>
        <p:nvSpPr>
          <p:cNvPr id="12" name="Text 10"/>
          <p:cNvSpPr txBox="1"/>
          <p:nvPr/>
        </p:nvSpPr>
        <p:spPr>
          <a:xfrm>
            <a:off x="9966960" y="4434840"/>
            <a:ext cx="1188720" cy="640080"/>
          </a:xfrm>
          <a:prstGeom prst="rect">
            <a:avLst/>
          </a:prstGeom>
          <a:noFill/>
          <a:ln/>
        </p:spPr>
        <p:txBody>
          <a:bodyPr wrap="square" lIns="0" tIns="0" rIns="0" bIns="0" rtlCol="0" anchor="ctr"/>
          <a:lstStyle/>
          <a:p>
            <a:pPr indent="0" marL="0">
              <a:buNone/>
            </a:pPr>
            <a:r>
              <a:rPr lang="en-US" sz="1600" b="1" dirty="0">
                <a:solidFill>
                  <a:schemeClr val="bg1"/>
                </a:solidFill>
              </a:rPr>
              <a:t>Paid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400" b="1" dirty="0">
                <a:solidFill>
                  <a:schemeClr val="tx1"/>
                </a:solidFill>
              </a:rPr>
              <a:t>Marketing is optimizing for the wrong finish line</a:t>
            </a:r>
            <a:endParaRPr lang="en-US" sz="3400" dirty="0"/>
          </a:p>
        </p:txBody>
      </p:sp>
      <p:sp>
        <p:nvSpPr>
          <p:cNvPr id="3" name="stakeholder card"/>
          <p:cNvSpPr/>
          <p:nvPr/>
        </p:nvSpPr>
        <p:spPr>
          <a:xfrm>
            <a:off x="548640" y="1417320"/>
            <a:ext cx="3931920" cy="3749040"/>
          </a:xfrm>
          <a:prstGeom prst="roundRect">
            <a:avLst>
              <a:gd name="adj" fmla="val 3659"/>
            </a:avLst>
          </a:prstGeom>
          <a:solidFill>
            <a:schemeClr val="bg2"/>
          </a:solidFill>
          <a:ln w="12700">
            <a:solidFill>
              <a:schemeClr val="bg2"/>
            </a:solidFill>
            <a:prstDash val="solid"/>
          </a:ln>
        </p:spPr>
      </p:sp>
      <p:sp>
        <p:nvSpPr>
          <p:cNvPr id="4" name="stakeholder icon circle"/>
          <p:cNvSpPr/>
          <p:nvPr/>
        </p:nvSpPr>
        <p:spPr>
          <a:xfrm>
            <a:off x="868680" y="1691640"/>
            <a:ext cx="640080" cy="640080"/>
          </a:xfrm>
          <a:prstGeom prst="ellipse">
            <a:avLst/>
          </a:prstGeom>
          <a:solidFill>
            <a:schemeClr val="accent1"/>
          </a:solidFill>
          <a:ln w="12700">
            <a:solidFill>
              <a:schemeClr val="accent1"/>
            </a:solidFill>
            <a:prstDash val="solid"/>
          </a:ln>
        </p:spPr>
      </p:sp>
      <p:pic>
        <p:nvPicPr>
          <p:cNvPr id="5" name="stakeholder icon" descr="stakeholder icon">    </p:cNvPr>
          <p:cNvPicPr>
            <a:picLocks noChangeAspect="1"/>
          </p:cNvPicPr>
          <p:nvPr/>
        </p:nvPicPr>
        <p:blipFill>
          <a:blip r:embed="rId1"/>
          <a:stretch>
            <a:fillRect/>
          </a:stretch>
        </p:blipFill>
        <p:spPr>
          <a:xfrm>
            <a:off x="1028700" y="1851660"/>
            <a:ext cx="320040" cy="320040"/>
          </a:xfrm>
          <a:prstGeom prst="rect">
            <a:avLst/>
          </a:prstGeom>
        </p:spPr>
      </p:pic>
      <p:sp>
        <p:nvSpPr>
          <p:cNvPr id="6" name="Text 3"/>
          <p:cNvSpPr txBox="1"/>
          <p:nvPr/>
        </p:nvSpPr>
        <p:spPr>
          <a:xfrm>
            <a:off x="1691640" y="1691640"/>
            <a:ext cx="2651760" cy="640080"/>
          </a:xfrm>
          <a:prstGeom prst="rect">
            <a:avLst/>
          </a:prstGeom>
          <a:noFill/>
          <a:ln/>
        </p:spPr>
        <p:txBody>
          <a:bodyPr wrap="square" lIns="0" tIns="0" rIns="0" bIns="0" rtlCol="0" anchor="ctr"/>
          <a:lstStyle/>
          <a:p>
            <a:pPr indent="0" marL="0">
              <a:buNone/>
            </a:pPr>
            <a:r>
              <a:rPr lang="en-US" sz="1800" b="1" dirty="0">
                <a:solidFill>
                  <a:schemeClr val="tx1"/>
                </a:solidFill>
              </a:rPr>
              <a:t>Stakeholder: Growth Marketing</a:t>
            </a:r>
            <a:endParaRPr lang="en-US" sz="1800" dirty="0"/>
          </a:p>
        </p:txBody>
      </p:sp>
      <p:sp>
        <p:nvSpPr>
          <p:cNvPr id="7" name="Text 4"/>
          <p:cNvSpPr txBox="1"/>
          <p:nvPr/>
        </p:nvSpPr>
        <p:spPr>
          <a:xfrm>
            <a:off x="868680" y="2560320"/>
            <a:ext cx="342900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Owns paid campaigns and the pricing-page A/B test</a:t>
            </a:r>
            <a:endParaRPr lang="en-US" sz="1500" dirty="0"/>
          </a:p>
          <a:p>
            <a:pPr marL="342900" indent="-342900">
              <a:spcAft>
                <a:spcPts val="800"/>
              </a:spcAft>
              <a:buSzPct val="100000"/>
              <a:buChar char="•"/>
            </a:pPr>
            <a:r>
              <a:rPr lang="en-US" sz="1500" dirty="0">
                <a:solidFill>
                  <a:schemeClr val="tx1"/>
                </a:solidFill>
              </a:rPr>
              <a:t>Judges campaigns by signups and tests by signup rate</a:t>
            </a:r>
            <a:endParaRPr lang="en-US" sz="1500" dirty="0"/>
          </a:p>
          <a:p>
            <a:pPr marL="342900" indent="-342900">
              <a:spcAft>
                <a:spcPts val="800"/>
              </a:spcAft>
              <a:buSzPct val="100000"/>
              <a:buChar char="•"/>
            </a:pPr>
            <a:r>
              <a:rPr lang="en-US" sz="1500" dirty="0">
                <a:solidFill>
                  <a:schemeClr val="tx1"/>
                </a:solidFill>
              </a:rPr>
              <a:t>Decision this quarter: ship the new pricing page? Where does the budget go?</a:t>
            </a:r>
            <a:endParaRPr lang="en-US" sz="1500" dirty="0"/>
          </a:p>
        </p:txBody>
      </p:sp>
      <p:sp>
        <p:nvSpPr>
          <p:cNvPr id="8" name="step Ad click"/>
          <p:cNvSpPr/>
          <p:nvPr/>
        </p:nvSpPr>
        <p:spPr>
          <a:xfrm>
            <a:off x="4937760" y="2514600"/>
            <a:ext cx="1783080" cy="914400"/>
          </a:xfrm>
          <a:prstGeom prst="chevron">
            <a:avLst/>
          </a:prstGeom>
          <a:solidFill>
            <a:schemeClr val="accent1"/>
          </a:solidFill>
          <a:ln w="12700">
            <a:solidFill>
              <a:schemeClr val="accent1"/>
            </a:solidFill>
            <a:prstDash val="solid"/>
          </a:ln>
        </p:spPr>
      </p:sp>
      <p:sp>
        <p:nvSpPr>
          <p:cNvPr id="9" name="Text 6"/>
          <p:cNvSpPr txBox="1"/>
          <p:nvPr/>
        </p:nvSpPr>
        <p:spPr>
          <a:xfrm>
            <a:off x="5349240" y="2514600"/>
            <a:ext cx="1097280" cy="914400"/>
          </a:xfrm>
          <a:prstGeom prst="rect">
            <a:avLst/>
          </a:prstGeom>
          <a:noFill/>
          <a:ln/>
        </p:spPr>
        <p:txBody>
          <a:bodyPr wrap="square" lIns="0" tIns="0" rIns="0" bIns="0" rtlCol="0" anchor="ctr"/>
          <a:lstStyle/>
          <a:p>
            <a:pPr algn="ctr" indent="0" marL="0">
              <a:buNone/>
            </a:pPr>
            <a:r>
              <a:rPr lang="en-US" sz="1400" b="1" dirty="0">
                <a:solidFill>
                  <a:schemeClr val="bg1"/>
                </a:solidFill>
              </a:rPr>
              <a:t>Ad click</a:t>
            </a:r>
            <a:endParaRPr lang="en-US" sz="1400" dirty="0"/>
          </a:p>
        </p:txBody>
      </p:sp>
      <p:sp>
        <p:nvSpPr>
          <p:cNvPr id="10" name="step Signup"/>
          <p:cNvSpPr/>
          <p:nvPr/>
        </p:nvSpPr>
        <p:spPr>
          <a:xfrm>
            <a:off x="6629400" y="2514600"/>
            <a:ext cx="1783080" cy="914400"/>
          </a:xfrm>
          <a:prstGeom prst="chevron">
            <a:avLst/>
          </a:prstGeom>
          <a:solidFill>
            <a:schemeClr val="accent1"/>
          </a:solidFill>
          <a:ln w="12700">
            <a:solidFill>
              <a:schemeClr val="accent1"/>
            </a:solidFill>
            <a:prstDash val="solid"/>
          </a:ln>
        </p:spPr>
      </p:sp>
      <p:sp>
        <p:nvSpPr>
          <p:cNvPr id="11" name="Text 8"/>
          <p:cNvSpPr txBox="1"/>
          <p:nvPr/>
        </p:nvSpPr>
        <p:spPr>
          <a:xfrm>
            <a:off x="7040880" y="2514600"/>
            <a:ext cx="1097280" cy="914400"/>
          </a:xfrm>
          <a:prstGeom prst="rect">
            <a:avLst/>
          </a:prstGeom>
          <a:noFill/>
          <a:ln/>
        </p:spPr>
        <p:txBody>
          <a:bodyPr wrap="square" lIns="0" tIns="0" rIns="0" bIns="0" rtlCol="0" anchor="ctr"/>
          <a:lstStyle/>
          <a:p>
            <a:pPr algn="ctr" indent="0" marL="0">
              <a:buNone/>
            </a:pPr>
            <a:r>
              <a:rPr lang="en-US" sz="1400" b="1" dirty="0">
                <a:solidFill>
                  <a:schemeClr val="bg1"/>
                </a:solidFill>
              </a:rPr>
              <a:t>Signup</a:t>
            </a:r>
            <a:endParaRPr lang="en-US" sz="1400" dirty="0"/>
          </a:p>
        </p:txBody>
      </p:sp>
      <p:sp>
        <p:nvSpPr>
          <p:cNvPr id="12" name="step First invoice"/>
          <p:cNvSpPr/>
          <p:nvPr/>
        </p:nvSpPr>
        <p:spPr>
          <a:xfrm>
            <a:off x="8321040" y="2514600"/>
            <a:ext cx="1783080" cy="914400"/>
          </a:xfrm>
          <a:prstGeom prst="chevron">
            <a:avLst/>
          </a:prstGeom>
          <a:solidFill>
            <a:schemeClr val="accent3"/>
          </a:solidFill>
          <a:ln w="12700">
            <a:solidFill>
              <a:schemeClr val="accent3"/>
            </a:solidFill>
            <a:prstDash val="solid"/>
          </a:ln>
        </p:spPr>
      </p:sp>
      <p:sp>
        <p:nvSpPr>
          <p:cNvPr id="13" name="Text 10"/>
          <p:cNvSpPr txBox="1"/>
          <p:nvPr/>
        </p:nvSpPr>
        <p:spPr>
          <a:xfrm>
            <a:off x="8732520" y="2514600"/>
            <a:ext cx="1097280" cy="914400"/>
          </a:xfrm>
          <a:prstGeom prst="rect">
            <a:avLst/>
          </a:prstGeom>
          <a:noFill/>
          <a:ln/>
        </p:spPr>
        <p:txBody>
          <a:bodyPr wrap="square" lIns="0" tIns="0" rIns="0" bIns="0" rtlCol="0" anchor="ctr"/>
          <a:lstStyle/>
          <a:p>
            <a:pPr algn="ctr" indent="0" marL="0">
              <a:buNone/>
            </a:pPr>
            <a:r>
              <a:rPr lang="en-US" sz="1400" b="1" dirty="0">
                <a:solidFill>
                  <a:schemeClr val="bg1"/>
                </a:solidFill>
              </a:rPr>
              <a:t>First invoice</a:t>
            </a:r>
            <a:endParaRPr lang="en-US" sz="1400" dirty="0"/>
          </a:p>
        </p:txBody>
      </p:sp>
      <p:sp>
        <p:nvSpPr>
          <p:cNvPr id="14" name="step Paid"/>
          <p:cNvSpPr/>
          <p:nvPr/>
        </p:nvSpPr>
        <p:spPr>
          <a:xfrm>
            <a:off x="10012680" y="2514600"/>
            <a:ext cx="1783080" cy="914400"/>
          </a:xfrm>
          <a:prstGeom prst="chevron">
            <a:avLst/>
          </a:prstGeom>
          <a:solidFill>
            <a:schemeClr val="accent3"/>
          </a:solidFill>
          <a:ln w="12700">
            <a:solidFill>
              <a:schemeClr val="accent3"/>
            </a:solidFill>
            <a:prstDash val="solid"/>
          </a:ln>
        </p:spPr>
      </p:sp>
      <p:sp>
        <p:nvSpPr>
          <p:cNvPr id="15" name="Text 12"/>
          <p:cNvSpPr txBox="1"/>
          <p:nvPr/>
        </p:nvSpPr>
        <p:spPr>
          <a:xfrm>
            <a:off x="10424160" y="2514600"/>
            <a:ext cx="1097280" cy="914400"/>
          </a:xfrm>
          <a:prstGeom prst="rect">
            <a:avLst/>
          </a:prstGeom>
          <a:noFill/>
          <a:ln/>
        </p:spPr>
        <p:txBody>
          <a:bodyPr wrap="square" lIns="0" tIns="0" rIns="0" bIns="0" rtlCol="0" anchor="ctr"/>
          <a:lstStyle/>
          <a:p>
            <a:pPr algn="ctr" indent="0" marL="0">
              <a:buNone/>
            </a:pPr>
            <a:r>
              <a:rPr lang="en-US" sz="1400" b="1" dirty="0">
                <a:solidFill>
                  <a:schemeClr val="bg1"/>
                </a:solidFill>
              </a:rPr>
              <a:t>Paid</a:t>
            </a:r>
            <a:endParaRPr lang="en-US" sz="1400" dirty="0"/>
          </a:p>
        </p:txBody>
      </p:sp>
      <p:sp>
        <p:nvSpPr>
          <p:cNvPr id="16" name="Text 13"/>
          <p:cNvSpPr txBox="1"/>
          <p:nvPr/>
        </p:nvSpPr>
        <p:spPr>
          <a:xfrm>
            <a:off x="4937760" y="1965960"/>
            <a:ext cx="3383280" cy="411480"/>
          </a:xfrm>
          <a:prstGeom prst="rect">
            <a:avLst/>
          </a:prstGeom>
          <a:noFill/>
          <a:ln/>
        </p:spPr>
        <p:txBody>
          <a:bodyPr wrap="square" lIns="0" tIns="0" rIns="0" bIns="0" rtlCol="0" anchor="b"/>
          <a:lstStyle/>
          <a:p>
            <a:pPr algn="ctr" indent="0" marL="0">
              <a:buNone/>
            </a:pPr>
            <a:r>
              <a:rPr lang="en-US" sz="1500" b="1" dirty="0">
                <a:solidFill>
                  <a:schemeClr val="accent1"/>
                </a:solidFill>
              </a:rPr>
              <a:t>What ad &amp; A/B tools see</a:t>
            </a:r>
            <a:endParaRPr lang="en-US" sz="1500" dirty="0"/>
          </a:p>
        </p:txBody>
      </p:sp>
      <p:sp>
        <p:nvSpPr>
          <p:cNvPr id="17" name="Text 14"/>
          <p:cNvSpPr txBox="1"/>
          <p:nvPr/>
        </p:nvSpPr>
        <p:spPr>
          <a:xfrm>
            <a:off x="8321040" y="1965960"/>
            <a:ext cx="3383280" cy="411480"/>
          </a:xfrm>
          <a:prstGeom prst="rect">
            <a:avLst/>
          </a:prstGeom>
          <a:noFill/>
          <a:ln/>
        </p:spPr>
        <p:txBody>
          <a:bodyPr wrap="square" lIns="0" tIns="0" rIns="0" bIns="0" rtlCol="0" anchor="b"/>
          <a:lstStyle/>
          <a:p>
            <a:pPr algn="ctr" indent="0" marL="0">
              <a:buNone/>
            </a:pPr>
            <a:r>
              <a:rPr lang="en-US" sz="1500" b="1" dirty="0">
                <a:solidFill>
                  <a:schemeClr val="accent3"/>
                </a:solidFill>
              </a:rPr>
              <a:t>Unseen: 14 days later, in billing</a:t>
            </a:r>
            <a:endParaRPr lang="en-US" sz="1500" dirty="0"/>
          </a:p>
        </p:txBody>
      </p:sp>
      <p:sp>
        <p:nvSpPr>
          <p:cNvPr id="18" name="Text 15"/>
          <p:cNvSpPr txBox="1"/>
          <p:nvPr/>
        </p:nvSpPr>
        <p:spPr>
          <a:xfrm>
            <a:off x="4937760" y="3657600"/>
            <a:ext cx="6766560" cy="457200"/>
          </a:xfrm>
          <a:prstGeom prst="rect">
            <a:avLst/>
          </a:prstGeom>
          <a:noFill/>
          <a:ln/>
        </p:spPr>
        <p:txBody>
          <a:bodyPr wrap="square" lIns="0" tIns="0" rIns="0" bIns="0" rtlCol="0" anchor="ctr"/>
          <a:lstStyle/>
          <a:p>
            <a:pPr algn="ctr" indent="0" marL="0">
              <a:buNone/>
            </a:pPr>
            <a:r>
              <a:rPr lang="en-US" sz="1600" i="1" dirty="0">
                <a:solidFill>
                  <a:schemeClr val="accent5"/>
                </a:solidFill>
              </a:rPr>
              <a:t>...and none of it shows why people stall.</a:t>
            </a:r>
            <a:endParaRPr lang="en-US" sz="1600" dirty="0"/>
          </a:p>
        </p:txBody>
      </p:sp>
      <p:sp>
        <p:nvSpPr>
          <p:cNvPr id="19" name="lesson"/>
          <p:cNvSpPr/>
          <p:nvPr/>
        </p:nvSpPr>
        <p:spPr>
          <a:xfrm>
            <a:off x="4937760" y="4343400"/>
            <a:ext cx="6766560" cy="822960"/>
          </a:xfrm>
          <a:prstGeom prst="roundRect">
            <a:avLst>
              <a:gd name="adj" fmla="val 13333"/>
            </a:avLst>
          </a:prstGeom>
          <a:solidFill>
            <a:schemeClr val="bg2"/>
          </a:solidFill>
          <a:ln w="12700">
            <a:solidFill>
              <a:schemeClr val="bg2"/>
            </a:solidFill>
            <a:prstDash val="solid"/>
          </a:ln>
        </p:spPr>
      </p:sp>
      <p:sp>
        <p:nvSpPr>
          <p:cNvPr id="20" name="Text 17"/>
          <p:cNvSpPr txBox="1"/>
          <p:nvPr/>
        </p:nvSpPr>
        <p:spPr>
          <a:xfrm>
            <a:off x="5166360" y="4343400"/>
            <a:ext cx="6400800" cy="822960"/>
          </a:xfrm>
          <a:prstGeom prst="rect">
            <a:avLst/>
          </a:prstGeom>
          <a:noFill/>
          <a:ln/>
        </p:spPr>
        <p:txBody>
          <a:bodyPr wrap="square" lIns="0" tIns="0" rIns="0" bIns="0" rtlCol="0" anchor="ctr"/>
          <a:lstStyle/>
          <a:p>
            <a:pPr indent="0" marL="0">
              <a:buNone/>
            </a:pPr>
            <a:r>
              <a:rPr lang="en-US" sz="1600" b="1" dirty="0">
                <a:solidFill>
                  <a:schemeClr val="tx1"/>
                </a:solidFill>
              </a:rPr>
              <a:t>Lesson from years in product-adoption analytics: </a:t>
            </a:r>
            <a:pPr indent="0" marL="0">
              <a:buNone/>
            </a:pPr>
            <a:r>
              <a:rPr lang="en-US" sz="1600" dirty="0">
                <a:solidFill>
                  <a:schemeClr val="tx1"/>
                </a:solidFill>
              </a:rPr>
              <a:t>attribution without behavior is half the story.</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400" b="1" dirty="0">
                <a:solidFill>
                  <a:schemeClr val="tx1"/>
                </a:solidFill>
              </a:rPr>
              <a:t>Approach: join campaign, behavior, and revenue on one user</a:t>
            </a:r>
            <a:endParaRPr lang="en-US" sz="3400" dirty="0"/>
          </a:p>
        </p:txBody>
      </p:sp>
      <p:sp>
        <p:nvSpPr>
          <p:cNvPr id="3" name="source Ledgerly site (Browser API)"/>
          <p:cNvSpPr/>
          <p:nvPr/>
        </p:nvSpPr>
        <p:spPr>
          <a:xfrm>
            <a:off x="548640" y="1737360"/>
            <a:ext cx="4206240" cy="1097280"/>
          </a:xfrm>
          <a:prstGeom prst="roundRect">
            <a:avLst>
              <a:gd name="adj" fmla="val 10000"/>
            </a:avLst>
          </a:prstGeom>
          <a:solidFill>
            <a:schemeClr val="bg2"/>
          </a:solidFill>
          <a:ln w="12700">
            <a:solidFill>
              <a:schemeClr val="bg2"/>
            </a:solidFill>
            <a:prstDash val="solid"/>
          </a:ln>
        </p:spPr>
      </p:sp>
      <p:sp>
        <p:nvSpPr>
          <p:cNvPr id="4" name="source icon circle"/>
          <p:cNvSpPr/>
          <p:nvPr/>
        </p:nvSpPr>
        <p:spPr>
          <a:xfrm>
            <a:off x="731520" y="2011680"/>
            <a:ext cx="548640" cy="548640"/>
          </a:xfrm>
          <a:prstGeom prst="ellipse">
            <a:avLst/>
          </a:prstGeom>
          <a:solidFill>
            <a:schemeClr val="accent1"/>
          </a:solidFill>
          <a:ln w="12700">
            <a:solidFill>
              <a:schemeClr val="accent1"/>
            </a:solidFill>
            <a:prstDash val="solid"/>
          </a:ln>
        </p:spPr>
      </p:sp>
      <p:pic>
        <p:nvPicPr>
          <p:cNvPr id="5" name="source icon" descr="source icon">    </p:cNvPr>
          <p:cNvPicPr>
            <a:picLocks noChangeAspect="1"/>
          </p:cNvPicPr>
          <p:nvPr/>
        </p:nvPicPr>
        <p:blipFill>
          <a:blip r:embed="rId1"/>
          <a:stretch>
            <a:fillRect/>
          </a:stretch>
        </p:blipFill>
        <p:spPr>
          <a:xfrm>
            <a:off x="868680" y="2148840"/>
            <a:ext cx="274320" cy="274320"/>
          </a:xfrm>
          <a:prstGeom prst="rect">
            <a:avLst/>
          </a:prstGeom>
        </p:spPr>
      </p:pic>
      <p:sp>
        <p:nvSpPr>
          <p:cNvPr id="6" name="Text 3"/>
          <p:cNvSpPr txBox="1"/>
          <p:nvPr/>
        </p:nvSpPr>
        <p:spPr>
          <a:xfrm>
            <a:off x="1463040" y="1737360"/>
            <a:ext cx="3200400" cy="1097280"/>
          </a:xfrm>
          <a:prstGeom prst="rect">
            <a:avLst/>
          </a:prstGeom>
          <a:noFill/>
          <a:ln/>
        </p:spPr>
        <p:txBody>
          <a:bodyPr wrap="square" lIns="0" tIns="0" rIns="0" bIns="0" rtlCol="0" anchor="ctr"/>
          <a:lstStyle/>
          <a:p>
            <a:pPr indent="0" marL="0">
              <a:buNone/>
            </a:pPr>
            <a:r>
              <a:rPr lang="en-US" sz="1500" b="1" dirty="0">
                <a:solidFill>
                  <a:schemeClr val="tx1"/>
                </a:solidFill>
              </a:rPr>
              <a:t>Ledgerly site (Browser API)</a:t>
            </a:r>
            <a:endParaRPr lang="en-US" sz="1500" dirty="0"/>
          </a:p>
          <a:p>
            <a:pPr indent="0" marL="0">
              <a:buNone/>
            </a:pPr>
            <a:r>
              <a:rPr lang="en-US" sz="1300" dirty="0">
                <a:solidFill>
                  <a:schemeClr val="accent5"/>
                </a:solidFill>
              </a:rPr>
              <a:t>UTMs, variant from the mocked A/B tool, funnel events</a:t>
            </a:r>
            <a:endParaRPr lang="en-US" sz="1500" dirty="0"/>
          </a:p>
        </p:txBody>
      </p:sp>
      <p:sp>
        <p:nvSpPr>
          <p:cNvPr id="7" name="arrow 0"/>
          <p:cNvSpPr/>
          <p:nvPr/>
        </p:nvSpPr>
        <p:spPr>
          <a:xfrm>
            <a:off x="4800600" y="2286000"/>
            <a:ext cx="822960" cy="548640"/>
          </a:xfrm>
          <a:prstGeom prst="line">
            <a:avLst/>
          </a:prstGeom>
          <a:noFill/>
          <a:ln w="25400">
            <a:solidFill>
              <a:srgbClr val="64748B"/>
            </a:solidFill>
            <a:prstDash val="solid"/>
            <a:tailEnd type="triangle"/>
          </a:ln>
        </p:spPr>
      </p:sp>
      <p:sp>
        <p:nvSpPr>
          <p:cNvPr id="8" name="source Billing system (Server API v2)"/>
          <p:cNvSpPr/>
          <p:nvPr/>
        </p:nvSpPr>
        <p:spPr>
          <a:xfrm>
            <a:off x="548640" y="3474720"/>
            <a:ext cx="4206240" cy="1097280"/>
          </a:xfrm>
          <a:prstGeom prst="roundRect">
            <a:avLst>
              <a:gd name="adj" fmla="val 10000"/>
            </a:avLst>
          </a:prstGeom>
          <a:solidFill>
            <a:schemeClr val="bg2"/>
          </a:solidFill>
          <a:ln w="12700">
            <a:solidFill>
              <a:schemeClr val="bg2"/>
            </a:solidFill>
            <a:prstDash val="solid"/>
          </a:ln>
        </p:spPr>
      </p:sp>
      <p:sp>
        <p:nvSpPr>
          <p:cNvPr id="9" name="source icon circle"/>
          <p:cNvSpPr/>
          <p:nvPr/>
        </p:nvSpPr>
        <p:spPr>
          <a:xfrm>
            <a:off x="731520" y="3749040"/>
            <a:ext cx="548640" cy="548640"/>
          </a:xfrm>
          <a:prstGeom prst="ellipse">
            <a:avLst/>
          </a:prstGeom>
          <a:solidFill>
            <a:schemeClr val="accent2"/>
          </a:solidFill>
          <a:ln w="12700">
            <a:solidFill>
              <a:schemeClr val="accent2"/>
            </a:solidFill>
            <a:prstDash val="solid"/>
          </a:ln>
        </p:spPr>
      </p:sp>
      <p:pic>
        <p:nvPicPr>
          <p:cNvPr id="10" name="source icon" descr="source icon">    </p:cNvPr>
          <p:cNvPicPr>
            <a:picLocks noChangeAspect="1"/>
          </p:cNvPicPr>
          <p:nvPr/>
        </p:nvPicPr>
        <p:blipFill>
          <a:blip r:embed="rId2"/>
          <a:stretch>
            <a:fillRect/>
          </a:stretch>
        </p:blipFill>
        <p:spPr>
          <a:xfrm>
            <a:off x="868680" y="3886200"/>
            <a:ext cx="274320" cy="274320"/>
          </a:xfrm>
          <a:prstGeom prst="rect">
            <a:avLst/>
          </a:prstGeom>
        </p:spPr>
      </p:pic>
      <p:sp>
        <p:nvSpPr>
          <p:cNvPr id="11" name="Text 7"/>
          <p:cNvSpPr txBox="1"/>
          <p:nvPr/>
        </p:nvSpPr>
        <p:spPr>
          <a:xfrm>
            <a:off x="1463040" y="3474720"/>
            <a:ext cx="3200400" cy="1097280"/>
          </a:xfrm>
          <a:prstGeom prst="rect">
            <a:avLst/>
          </a:prstGeom>
          <a:noFill/>
          <a:ln/>
        </p:spPr>
        <p:txBody>
          <a:bodyPr wrap="square" lIns="0" tIns="0" rIns="0" bIns="0" rtlCol="0" anchor="ctr"/>
          <a:lstStyle/>
          <a:p>
            <a:pPr indent="0" marL="0">
              <a:buNone/>
            </a:pPr>
            <a:r>
              <a:rPr lang="en-US" sz="1500" b="1" dirty="0">
                <a:solidFill>
                  <a:schemeClr val="tx1"/>
                </a:solidFill>
              </a:rPr>
              <a:t>Billing system (Server API v2)</a:t>
            </a:r>
            <a:endParaRPr lang="en-US" sz="1500" dirty="0"/>
          </a:p>
          <a:p>
            <a:pPr indent="0" marL="0">
              <a:buNone/>
            </a:pPr>
            <a:r>
              <a:rPr lang="en-US" sz="1300" dirty="0">
                <a:solidFill>
                  <a:schemeClr val="accent5"/>
                </a:solidFill>
              </a:rPr>
              <a:t>Trial Converted / Expired, plan, MRR</a:t>
            </a:r>
            <a:endParaRPr lang="en-US" sz="1500" dirty="0"/>
          </a:p>
        </p:txBody>
      </p:sp>
      <p:sp>
        <p:nvSpPr>
          <p:cNvPr id="12" name="arrow 1"/>
          <p:cNvSpPr/>
          <p:nvPr/>
        </p:nvSpPr>
        <p:spPr>
          <a:xfrm flipV="1">
            <a:off x="4800600" y="3474720"/>
            <a:ext cx="822960" cy="548640"/>
          </a:xfrm>
          <a:prstGeom prst="line">
            <a:avLst/>
          </a:prstGeom>
          <a:noFill/>
          <a:ln w="25400">
            <a:solidFill>
              <a:srgbClr val="64748B"/>
            </a:solidFill>
            <a:prstDash val="solid"/>
            <a:tailEnd type="triangle"/>
          </a:ln>
        </p:spPr>
      </p:sp>
      <p:sp>
        <p:nvSpPr>
          <p:cNvPr id="13" name="Text 9"/>
          <p:cNvSpPr txBox="1"/>
          <p:nvPr/>
        </p:nvSpPr>
        <p:spPr>
          <a:xfrm>
            <a:off x="4754880" y="3017520"/>
            <a:ext cx="914400" cy="320040"/>
          </a:xfrm>
          <a:prstGeom prst="rect">
            <a:avLst/>
          </a:prstGeom>
          <a:noFill/>
          <a:ln/>
        </p:spPr>
        <p:txBody>
          <a:bodyPr wrap="square" lIns="0" tIns="0" rIns="0" bIns="0" rtlCol="0" anchor="ctr"/>
          <a:lstStyle/>
          <a:p>
            <a:pPr algn="ctr" indent="0" marL="0">
              <a:buNone/>
            </a:pPr>
            <a:r>
              <a:rPr lang="en-US" sz="1100" i="1" dirty="0">
                <a:solidFill>
                  <a:schemeClr val="accent5"/>
                </a:solidFill>
              </a:rPr>
              <a:t>shared uid</a:t>
            </a:r>
            <a:endParaRPr lang="en-US" sz="1100" dirty="0"/>
          </a:p>
        </p:txBody>
      </p:sp>
      <p:sp>
        <p:nvSpPr>
          <p:cNvPr id="14" name="fullstory box"/>
          <p:cNvSpPr/>
          <p:nvPr/>
        </p:nvSpPr>
        <p:spPr>
          <a:xfrm>
            <a:off x="5669280" y="2468880"/>
            <a:ext cx="2103120" cy="1371600"/>
          </a:xfrm>
          <a:prstGeom prst="roundRect">
            <a:avLst>
              <a:gd name="adj" fmla="val 10000"/>
            </a:avLst>
          </a:prstGeom>
          <a:solidFill>
            <a:schemeClr val="tx1"/>
          </a:solidFill>
          <a:ln w="12700">
            <a:solidFill>
              <a:schemeClr val="tx1"/>
            </a:solidFill>
            <a:prstDash val="solid"/>
          </a:ln>
        </p:spPr>
      </p:sp>
      <p:sp>
        <p:nvSpPr>
          <p:cNvPr id="15" name="Text 11"/>
          <p:cNvSpPr txBox="1"/>
          <p:nvPr/>
        </p:nvSpPr>
        <p:spPr>
          <a:xfrm>
            <a:off x="5669280" y="2468880"/>
            <a:ext cx="2103120" cy="1371600"/>
          </a:xfrm>
          <a:prstGeom prst="rect">
            <a:avLst/>
          </a:prstGeom>
          <a:noFill/>
          <a:ln/>
        </p:spPr>
        <p:txBody>
          <a:bodyPr wrap="square" lIns="0" tIns="0" rIns="0" bIns="0" rtlCol="0" anchor="ctr"/>
          <a:lstStyle/>
          <a:p>
            <a:pPr algn="ctr" indent="0" marL="0">
              <a:buNone/>
            </a:pPr>
            <a:r>
              <a:rPr lang="en-US" sz="2000" b="1" dirty="0">
                <a:solidFill>
                  <a:schemeClr val="bg1"/>
                </a:solidFill>
              </a:rPr>
              <a:t>Fullstory</a:t>
            </a:r>
            <a:endParaRPr lang="en-US" sz="1500" dirty="0"/>
          </a:p>
          <a:p>
            <a:pPr algn="ctr" indent="0" marL="0">
              <a:buNone/>
            </a:pPr>
            <a:r>
              <a:rPr lang="en-US" sz="1300" dirty="0">
                <a:solidFill>
                  <a:schemeClr val="bg1"/>
                </a:solidFill>
              </a:rPr>
              <a:t>one user, keyed on uid</a:t>
            </a:r>
            <a:endParaRPr lang="en-US" sz="1500" dirty="0"/>
          </a:p>
        </p:txBody>
      </p:sp>
      <p:sp>
        <p:nvSpPr>
          <p:cNvPr id="16" name="Text 12"/>
          <p:cNvSpPr txBox="1"/>
          <p:nvPr/>
        </p:nvSpPr>
        <p:spPr>
          <a:xfrm>
            <a:off x="548640" y="4892040"/>
            <a:ext cx="7223760" cy="54864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setIdentity  |  setProperties  |  trackEvent</a:t>
            </a:r>
            <a:endParaRPr lang="en-US" sz="1200" dirty="0"/>
          </a:p>
          <a:p>
            <a:pPr indent="0" marL="0">
              <a:buNone/>
            </a:pPr>
            <a:r>
              <a:rPr lang="en-US" sz="1200" dirty="0">
                <a:solidFill>
                  <a:schemeClr val="accent5"/>
                </a:solidFill>
                <a:latin typeface="Courier New" pitchFamily="34" charset="0"/>
                <a:ea typeface="Courier New" pitchFamily="34" charset="-122"/>
                <a:cs typeface="Courier New" pitchFamily="34" charset="-120"/>
              </a:rPr>
              <a:t>POST /v2/users  |  POST /v2/events</a:t>
            </a:r>
            <a:endParaRPr lang="en-US" sz="1200" dirty="0"/>
          </a:p>
        </p:txBody>
      </p:sp>
      <p:sp>
        <p:nvSpPr>
          <p:cNvPr id="17" name="Text 13"/>
          <p:cNvSpPr txBox="1"/>
          <p:nvPr/>
        </p:nvSpPr>
        <p:spPr>
          <a:xfrm>
            <a:off x="8229600" y="141732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Key decisions</a:t>
            </a:r>
            <a:endParaRPr lang="en-US" sz="1800" dirty="0"/>
          </a:p>
        </p:txBody>
      </p:sp>
      <p:sp>
        <p:nvSpPr>
          <p:cNvPr id="18" name="Text 14"/>
          <p:cNvSpPr txBox="1"/>
          <p:nvPr/>
        </p:nvSpPr>
        <p:spPr>
          <a:xfrm>
            <a:off x="8229600" y="1874520"/>
            <a:ext cx="3474720" cy="4206240"/>
          </a:xfrm>
          <a:prstGeom prst="rect">
            <a:avLst/>
          </a:prstGeom>
          <a:noFill/>
          <a:ln/>
        </p:spPr>
        <p:txBody>
          <a:bodyPr wrap="square" lIns="0" tIns="0" rIns="0" bIns="0" rtlCol="0" anchor="t"/>
          <a:lstStyle/>
          <a:p>
            <a:pPr indent="0" marL="0">
              <a:buNone/>
            </a:pPr>
            <a:r>
              <a:rPr lang="en-US" sz="1400" b="1" dirty="0">
                <a:solidFill>
                  <a:schemeClr val="tx1"/>
                </a:solidFill>
              </a:rPr>
              <a:t>Revenue from the server, behavior from the browser</a:t>
            </a:r>
            <a:endParaRPr lang="en-US" sz="1400" dirty="0"/>
          </a:p>
          <a:p>
            <a:pPr indent="0" marL="0">
              <a:buNone/>
            </a:pPr>
            <a:r>
              <a:rPr lang="en-US" sz="1400" dirty="0">
                <a:solidFill>
                  <a:schemeClr val="accent5"/>
                </a:solidFill>
              </a:rPr>
              <a:t>Ad blockers can't drop it; the client can't fake it</a:t>
            </a:r>
            <a:endParaRPr lang="en-US" sz="1400" dirty="0"/>
          </a:p>
          <a:p>
            <a:pPr indent="0" marL="0">
              <a:spcBef>
                <a:spcPts val="1200"/>
              </a:spcBef>
              <a:buNone/>
            </a:pPr>
            <a:r>
              <a:rPr lang="en-US" sz="1400" b="1" dirty="0">
                <a:solidFill>
                  <a:schemeClr val="tx1"/>
                </a:solidFill>
              </a:rPr>
              <a:t>Exposure, not assignment</a:t>
            </a:r>
            <a:endParaRPr lang="en-US" sz="1400" dirty="0"/>
          </a:p>
          <a:p>
            <a:pPr indent="0" marL="0">
              <a:buNone/>
            </a:pPr>
            <a:r>
              <a:rPr lang="en-US" sz="1400" dirty="0">
                <a:solidFill>
                  <a:schemeClr val="accent5"/>
                </a:solidFill>
              </a:rPr>
              <a:t>Only users who saw the variant are in the test</a:t>
            </a:r>
            <a:endParaRPr lang="en-US" sz="1400" dirty="0"/>
          </a:p>
          <a:p>
            <a:pPr indent="0" marL="0">
              <a:spcBef>
                <a:spcPts val="1200"/>
              </a:spcBef>
              <a:buNone/>
            </a:pPr>
            <a:r>
              <a:rPr lang="en-US" sz="1400" b="1" dirty="0">
                <a:solidFill>
                  <a:schemeClr val="tx1"/>
                </a:solidFill>
              </a:rPr>
              <a:t>Internal uid, never email</a:t>
            </a:r>
            <a:endParaRPr lang="en-US" sz="1400" dirty="0"/>
          </a:p>
          <a:p>
            <a:pPr indent="0" marL="0">
              <a:buNone/>
            </a:pPr>
            <a:r>
              <a:rPr lang="en-US" sz="1400" dirty="0">
                <a:solidFill>
                  <a:schemeClr val="accent5"/>
                </a:solidFill>
              </a:rPr>
              <a:t>Stable, non-PII join key for billing</a:t>
            </a:r>
            <a:endParaRPr lang="en-US" sz="1400" dirty="0"/>
          </a:p>
          <a:p>
            <a:pPr indent="0" marL="0">
              <a:spcBef>
                <a:spcPts val="1200"/>
              </a:spcBef>
              <a:buNone/>
            </a:pPr>
            <a:r>
              <a:rPr lang="en-US" sz="1400" b="1" dirty="0">
                <a:solidFill>
                  <a:schemeClr val="tx1"/>
                </a:solidFill>
              </a:rPr>
              <a:t>Private by default</a:t>
            </a:r>
            <a:endParaRPr lang="en-US" sz="1400" dirty="0"/>
          </a:p>
          <a:p>
            <a:pPr indent="0" marL="0">
              <a:buNone/>
            </a:pPr>
            <a:r>
              <a:rPr lang="en-US" sz="1400" dirty="0">
                <a:solidFill>
                  <a:schemeClr val="accent5"/>
                </a:solidFill>
              </a:rPr>
              <a:t>fs-exclude passwords, fs-mask PII</a:t>
            </a:r>
            <a:endParaRPr lang="en-US" sz="1400" dirty="0"/>
          </a:p>
          <a:p>
            <a:pPr indent="0" marL="0">
              <a:spcBef>
                <a:spcPts val="1200"/>
              </a:spcBef>
              <a:buNone/>
            </a:pPr>
            <a:r>
              <a:rPr lang="en-US" sz="1400" b="1" dirty="0">
                <a:solidFill>
                  <a:schemeClr val="tx1"/>
                </a:solidFill>
              </a:rPr>
              <a:t>Out of scope: Segment export, stats engine</a:t>
            </a:r>
            <a:endParaRPr lang="en-US" sz="1400" dirty="0"/>
          </a:p>
          <a:p>
            <a:pPr indent="0" marL="0">
              <a:buNone/>
            </a:pPr>
            <a:r>
              <a:rPr lang="en-US" sz="1400" dirty="0">
                <a:solidFill>
                  <a:schemeClr val="accent5"/>
                </a:solidFill>
              </a:rPr>
              <a:t>Phase 2, once the question is answered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400" b="1" dirty="0">
                <a:solidFill>
                  <a:schemeClr val="tx1"/>
                </a:solidFill>
              </a:rPr>
              <a:t>How Fullstory answers Marketing's question</a:t>
            </a:r>
            <a:endParaRPr lang="en-US" sz="3400" dirty="0"/>
          </a:p>
        </p:txBody>
      </p:sp>
      <p:sp>
        <p:nvSpPr>
          <p:cNvPr id="3" name="card Segments"/>
          <p:cNvSpPr/>
          <p:nvPr/>
        </p:nvSpPr>
        <p:spPr>
          <a:xfrm>
            <a:off x="548640" y="1508760"/>
            <a:ext cx="3474720" cy="1965960"/>
          </a:xfrm>
          <a:prstGeom prst="roundRect">
            <a:avLst>
              <a:gd name="adj" fmla="val 6977"/>
            </a:avLst>
          </a:prstGeom>
          <a:solidFill>
            <a:schemeClr val="bg2"/>
          </a:solidFill>
          <a:ln w="12700">
            <a:solidFill>
              <a:schemeClr val="bg2"/>
            </a:solidFill>
            <a:prstDash val="solid"/>
          </a:ln>
        </p:spPr>
      </p:sp>
      <p:sp>
        <p:nvSpPr>
          <p:cNvPr id="4" name="Segments icon circle"/>
          <p:cNvSpPr/>
          <p:nvPr/>
        </p:nvSpPr>
        <p:spPr>
          <a:xfrm>
            <a:off x="822960" y="1783080"/>
            <a:ext cx="594360" cy="594360"/>
          </a:xfrm>
          <a:prstGeom prst="ellipse">
            <a:avLst/>
          </a:prstGeom>
          <a:solidFill>
            <a:schemeClr val="accent1"/>
          </a:solidFill>
          <a:ln w="12700">
            <a:solidFill>
              <a:schemeClr val="accent1"/>
            </a:solidFill>
            <a:prstDash val="solid"/>
          </a:ln>
        </p:spPr>
      </p:sp>
      <p:pic>
        <p:nvPicPr>
          <p:cNvPr id="5" name="Segments icon" descr="Segments icon">    </p:cNvPr>
          <p:cNvPicPr>
            <a:picLocks noChangeAspect="1"/>
          </p:cNvPicPr>
          <p:nvPr/>
        </p:nvPicPr>
        <p:blipFill>
          <a:blip r:embed="rId1"/>
          <a:stretch>
            <a:fillRect/>
          </a:stretch>
        </p:blipFill>
        <p:spPr>
          <a:xfrm>
            <a:off x="971550" y="1931670"/>
            <a:ext cx="297180" cy="297180"/>
          </a:xfrm>
          <a:prstGeom prst="rect">
            <a:avLst/>
          </a:prstGeom>
        </p:spPr>
      </p:pic>
      <p:sp>
        <p:nvSpPr>
          <p:cNvPr id="6" name="Text 3"/>
          <p:cNvSpPr txBox="1"/>
          <p:nvPr/>
        </p:nvSpPr>
        <p:spPr>
          <a:xfrm>
            <a:off x="1600200" y="1783080"/>
            <a:ext cx="2286000" cy="594360"/>
          </a:xfrm>
          <a:prstGeom prst="rect">
            <a:avLst/>
          </a:prstGeom>
          <a:noFill/>
          <a:ln/>
        </p:spPr>
        <p:txBody>
          <a:bodyPr wrap="square" lIns="0" tIns="0" rIns="0" bIns="0" rtlCol="0" anchor="ctr"/>
          <a:lstStyle/>
          <a:p>
            <a:pPr indent="0" marL="0">
              <a:buNone/>
            </a:pPr>
            <a:r>
              <a:rPr lang="en-US" sz="1800" b="1" dirty="0">
                <a:solidFill>
                  <a:schemeClr val="tx1"/>
                </a:solidFill>
              </a:rPr>
              <a:t>Segments</a:t>
            </a:r>
            <a:endParaRPr lang="en-US" sz="1800" dirty="0"/>
          </a:p>
        </p:txBody>
      </p:sp>
      <p:sp>
        <p:nvSpPr>
          <p:cNvPr id="7" name="Text 4"/>
          <p:cNvSpPr txBox="1"/>
          <p:nvPr/>
        </p:nvSpPr>
        <p:spPr>
          <a:xfrm>
            <a:off x="822960" y="2514600"/>
            <a:ext cx="2971800" cy="960120"/>
          </a:xfrm>
          <a:prstGeom prst="rect">
            <a:avLst/>
          </a:prstGeom>
          <a:noFill/>
          <a:ln/>
        </p:spPr>
        <p:txBody>
          <a:bodyPr wrap="square" lIns="0" tIns="0" rIns="0" bIns="0" rtlCol="0" anchor="t"/>
          <a:lstStyle/>
          <a:p>
            <a:pPr indent="0" marL="0">
              <a:buNone/>
            </a:pPr>
            <a:r>
              <a:rPr lang="en-US" sz="1400" dirty="0">
                <a:solidFill>
                  <a:schemeClr val="tx1"/>
                </a:solidFill>
              </a:rPr>
              <a:t>One per campaign (acq_campaign) and per variant (exp_pricing_page_v2)</a:t>
            </a:r>
            <a:endParaRPr lang="en-US" sz="1400" dirty="0"/>
          </a:p>
        </p:txBody>
      </p:sp>
      <p:sp>
        <p:nvSpPr>
          <p:cNvPr id="8" name="card Funnel to revenue"/>
          <p:cNvSpPr/>
          <p:nvPr/>
        </p:nvSpPr>
        <p:spPr>
          <a:xfrm>
            <a:off x="4297680" y="1508760"/>
            <a:ext cx="3474720" cy="1965960"/>
          </a:xfrm>
          <a:prstGeom prst="roundRect">
            <a:avLst>
              <a:gd name="adj" fmla="val 6977"/>
            </a:avLst>
          </a:prstGeom>
          <a:solidFill>
            <a:schemeClr val="bg2"/>
          </a:solidFill>
          <a:ln w="12700">
            <a:solidFill>
              <a:schemeClr val="bg2"/>
            </a:solidFill>
            <a:prstDash val="solid"/>
          </a:ln>
        </p:spPr>
      </p:sp>
      <p:sp>
        <p:nvSpPr>
          <p:cNvPr id="9" name="Funnel to revenue icon circle"/>
          <p:cNvSpPr/>
          <p:nvPr/>
        </p:nvSpPr>
        <p:spPr>
          <a:xfrm>
            <a:off x="4572000" y="1783080"/>
            <a:ext cx="594360" cy="594360"/>
          </a:xfrm>
          <a:prstGeom prst="ellipse">
            <a:avLst/>
          </a:prstGeom>
          <a:solidFill>
            <a:schemeClr val="accent1"/>
          </a:solidFill>
          <a:ln w="12700">
            <a:solidFill>
              <a:schemeClr val="accent1"/>
            </a:solidFill>
            <a:prstDash val="solid"/>
          </a:ln>
        </p:spPr>
      </p:sp>
      <p:pic>
        <p:nvPicPr>
          <p:cNvPr id="10" name="Funnel to revenue icon" descr="Funnel to revenue icon">    </p:cNvPr>
          <p:cNvPicPr>
            <a:picLocks noChangeAspect="1"/>
          </p:cNvPicPr>
          <p:nvPr/>
        </p:nvPicPr>
        <p:blipFill>
          <a:blip r:embed="rId2"/>
          <a:stretch>
            <a:fillRect/>
          </a:stretch>
        </p:blipFill>
        <p:spPr>
          <a:xfrm>
            <a:off x="4720590" y="1931670"/>
            <a:ext cx="297180" cy="297180"/>
          </a:xfrm>
          <a:prstGeom prst="rect">
            <a:avLst/>
          </a:prstGeom>
        </p:spPr>
      </p:pic>
      <p:sp>
        <p:nvSpPr>
          <p:cNvPr id="11" name="Text 7"/>
          <p:cNvSpPr txBox="1"/>
          <p:nvPr/>
        </p:nvSpPr>
        <p:spPr>
          <a:xfrm>
            <a:off x="5349240" y="1783080"/>
            <a:ext cx="2286000" cy="594360"/>
          </a:xfrm>
          <a:prstGeom prst="rect">
            <a:avLst/>
          </a:prstGeom>
          <a:noFill/>
          <a:ln/>
        </p:spPr>
        <p:txBody>
          <a:bodyPr wrap="square" lIns="0" tIns="0" rIns="0" bIns="0" rtlCol="0" anchor="ctr"/>
          <a:lstStyle/>
          <a:p>
            <a:pPr indent="0" marL="0">
              <a:buNone/>
            </a:pPr>
            <a:r>
              <a:rPr lang="en-US" sz="1800" b="1" dirty="0">
                <a:solidFill>
                  <a:schemeClr val="tx1"/>
                </a:solidFill>
              </a:rPr>
              <a:t>Funnel to revenue</a:t>
            </a:r>
            <a:endParaRPr lang="en-US" sz="1800" dirty="0"/>
          </a:p>
        </p:txBody>
      </p:sp>
      <p:sp>
        <p:nvSpPr>
          <p:cNvPr id="12" name="Text 8"/>
          <p:cNvSpPr txBox="1"/>
          <p:nvPr/>
        </p:nvSpPr>
        <p:spPr>
          <a:xfrm>
            <a:off x="4572000" y="2514600"/>
            <a:ext cx="2971800" cy="960120"/>
          </a:xfrm>
          <a:prstGeom prst="rect">
            <a:avLst/>
          </a:prstGeom>
          <a:noFill/>
          <a:ln/>
        </p:spPr>
        <p:txBody>
          <a:bodyPr wrap="square" lIns="0" tIns="0" rIns="0" bIns="0" rtlCol="0" anchor="t"/>
          <a:lstStyle/>
          <a:p>
            <a:pPr indent="0" marL="0">
              <a:buNone/>
            </a:pPr>
            <a:r>
              <a:rPr lang="en-US" sz="1400" dirty="0">
                <a:solidFill>
                  <a:schemeClr val="tx1"/>
                </a:solidFill>
              </a:rPr>
              <a:t>Experiment Viewed &gt; CTA &gt; Signup &gt; First Invoice &gt; Trial Converted, split by variant and campaign</a:t>
            </a:r>
            <a:endParaRPr lang="en-US" sz="1400" dirty="0"/>
          </a:p>
        </p:txBody>
      </p:sp>
      <p:sp>
        <p:nvSpPr>
          <p:cNvPr id="13" name="card Frustration signals"/>
          <p:cNvSpPr/>
          <p:nvPr/>
        </p:nvSpPr>
        <p:spPr>
          <a:xfrm>
            <a:off x="8046720" y="1508760"/>
            <a:ext cx="3474720" cy="1965960"/>
          </a:xfrm>
          <a:prstGeom prst="roundRect">
            <a:avLst>
              <a:gd name="adj" fmla="val 6977"/>
            </a:avLst>
          </a:prstGeom>
          <a:solidFill>
            <a:schemeClr val="bg2"/>
          </a:solidFill>
          <a:ln w="12700">
            <a:solidFill>
              <a:schemeClr val="bg2"/>
            </a:solidFill>
            <a:prstDash val="solid"/>
          </a:ln>
        </p:spPr>
      </p:sp>
      <p:sp>
        <p:nvSpPr>
          <p:cNvPr id="14" name="Frustration signals icon circle"/>
          <p:cNvSpPr/>
          <p:nvPr/>
        </p:nvSpPr>
        <p:spPr>
          <a:xfrm>
            <a:off x="8321040" y="1783080"/>
            <a:ext cx="594360" cy="594360"/>
          </a:xfrm>
          <a:prstGeom prst="ellipse">
            <a:avLst/>
          </a:prstGeom>
          <a:solidFill>
            <a:schemeClr val="accent3"/>
          </a:solidFill>
          <a:ln w="12700">
            <a:solidFill>
              <a:schemeClr val="accent3"/>
            </a:solidFill>
            <a:prstDash val="solid"/>
          </a:ln>
        </p:spPr>
      </p:sp>
      <p:pic>
        <p:nvPicPr>
          <p:cNvPr id="15" name="Frustration signals icon" descr="Frustration signals icon">    </p:cNvPr>
          <p:cNvPicPr>
            <a:picLocks noChangeAspect="1"/>
          </p:cNvPicPr>
          <p:nvPr/>
        </p:nvPicPr>
        <p:blipFill>
          <a:blip r:embed="rId3"/>
          <a:stretch>
            <a:fillRect/>
          </a:stretch>
        </p:blipFill>
        <p:spPr>
          <a:xfrm>
            <a:off x="8469630" y="1931670"/>
            <a:ext cx="297180" cy="297180"/>
          </a:xfrm>
          <a:prstGeom prst="rect">
            <a:avLst/>
          </a:prstGeom>
        </p:spPr>
      </p:pic>
      <p:sp>
        <p:nvSpPr>
          <p:cNvPr id="16" name="Text 11"/>
          <p:cNvSpPr txBox="1"/>
          <p:nvPr/>
        </p:nvSpPr>
        <p:spPr>
          <a:xfrm>
            <a:off x="9098280" y="1783080"/>
            <a:ext cx="2286000" cy="594360"/>
          </a:xfrm>
          <a:prstGeom prst="rect">
            <a:avLst/>
          </a:prstGeom>
          <a:noFill/>
          <a:ln/>
        </p:spPr>
        <p:txBody>
          <a:bodyPr wrap="square" lIns="0" tIns="0" rIns="0" bIns="0" rtlCol="0" anchor="ctr"/>
          <a:lstStyle/>
          <a:p>
            <a:pPr indent="0" marL="0">
              <a:buNone/>
            </a:pPr>
            <a:r>
              <a:rPr lang="en-US" sz="1800" b="1" dirty="0">
                <a:solidFill>
                  <a:schemeClr val="tx1"/>
                </a:solidFill>
              </a:rPr>
              <a:t>Frustration signals</a:t>
            </a:r>
            <a:endParaRPr lang="en-US" sz="1800" dirty="0"/>
          </a:p>
        </p:txBody>
      </p:sp>
      <p:sp>
        <p:nvSpPr>
          <p:cNvPr id="17" name="Text 12"/>
          <p:cNvSpPr txBox="1"/>
          <p:nvPr/>
        </p:nvSpPr>
        <p:spPr>
          <a:xfrm>
            <a:off x="8321040" y="2514600"/>
            <a:ext cx="2971800" cy="960120"/>
          </a:xfrm>
          <a:prstGeom prst="rect">
            <a:avLst/>
          </a:prstGeom>
          <a:noFill/>
          <a:ln/>
        </p:spPr>
        <p:txBody>
          <a:bodyPr wrap="square" lIns="0" tIns="0" rIns="0" bIns="0" rtlCol="0" anchor="t"/>
          <a:lstStyle/>
          <a:p>
            <a:pPr indent="0" marL="0">
              <a:buNone/>
            </a:pPr>
            <a:r>
              <a:rPr lang="en-US" sz="1400" dirty="0">
                <a:solidFill>
                  <a:schemeClr val="tx1"/>
                </a:solidFill>
              </a:rPr>
              <a:t>Rage clicks and error clicks on Pricing, by variant</a:t>
            </a:r>
            <a:endParaRPr lang="en-US" sz="1400" dirty="0"/>
          </a:p>
        </p:txBody>
      </p:sp>
      <p:sp>
        <p:nvSpPr>
          <p:cNvPr id="18" name="card Session replay"/>
          <p:cNvSpPr/>
          <p:nvPr/>
        </p:nvSpPr>
        <p:spPr>
          <a:xfrm>
            <a:off x="548640" y="3749040"/>
            <a:ext cx="3474720" cy="1965960"/>
          </a:xfrm>
          <a:prstGeom prst="roundRect">
            <a:avLst>
              <a:gd name="adj" fmla="val 6977"/>
            </a:avLst>
          </a:prstGeom>
          <a:solidFill>
            <a:schemeClr val="bg2"/>
          </a:solidFill>
          <a:ln w="12700">
            <a:solidFill>
              <a:schemeClr val="bg2"/>
            </a:solidFill>
            <a:prstDash val="solid"/>
          </a:ln>
        </p:spPr>
      </p:sp>
      <p:sp>
        <p:nvSpPr>
          <p:cNvPr id="19" name="Session replay icon circle"/>
          <p:cNvSpPr/>
          <p:nvPr/>
        </p:nvSpPr>
        <p:spPr>
          <a:xfrm>
            <a:off x="822960" y="4023360"/>
            <a:ext cx="594360" cy="594360"/>
          </a:xfrm>
          <a:prstGeom prst="ellipse">
            <a:avLst/>
          </a:prstGeom>
          <a:solidFill>
            <a:schemeClr val="accent3"/>
          </a:solidFill>
          <a:ln w="12700">
            <a:solidFill>
              <a:schemeClr val="accent3"/>
            </a:solidFill>
            <a:prstDash val="solid"/>
          </a:ln>
        </p:spPr>
      </p:sp>
      <p:pic>
        <p:nvPicPr>
          <p:cNvPr id="20" name="Session replay icon" descr="Session replay icon">    </p:cNvPr>
          <p:cNvPicPr>
            <a:picLocks noChangeAspect="1"/>
          </p:cNvPicPr>
          <p:nvPr/>
        </p:nvPicPr>
        <p:blipFill>
          <a:blip r:embed="rId4"/>
          <a:stretch>
            <a:fillRect/>
          </a:stretch>
        </p:blipFill>
        <p:spPr>
          <a:xfrm>
            <a:off x="971550" y="4171950"/>
            <a:ext cx="297180" cy="297180"/>
          </a:xfrm>
          <a:prstGeom prst="rect">
            <a:avLst/>
          </a:prstGeom>
        </p:spPr>
      </p:pic>
      <p:sp>
        <p:nvSpPr>
          <p:cNvPr id="21" name="Text 15"/>
          <p:cNvSpPr txBox="1"/>
          <p:nvPr/>
        </p:nvSpPr>
        <p:spPr>
          <a:xfrm>
            <a:off x="1600200" y="4023360"/>
            <a:ext cx="2286000" cy="594360"/>
          </a:xfrm>
          <a:prstGeom prst="rect">
            <a:avLst/>
          </a:prstGeom>
          <a:noFill/>
          <a:ln/>
        </p:spPr>
        <p:txBody>
          <a:bodyPr wrap="square" lIns="0" tIns="0" rIns="0" bIns="0" rtlCol="0" anchor="ctr"/>
          <a:lstStyle/>
          <a:p>
            <a:pPr indent="0" marL="0">
              <a:buNone/>
            </a:pPr>
            <a:r>
              <a:rPr lang="en-US" sz="1800" b="1" dirty="0">
                <a:solidFill>
                  <a:schemeClr val="tx1"/>
                </a:solidFill>
              </a:rPr>
              <a:t>Session replay</a:t>
            </a:r>
            <a:endParaRPr lang="en-US" sz="1800" dirty="0"/>
          </a:p>
        </p:txBody>
      </p:sp>
      <p:sp>
        <p:nvSpPr>
          <p:cNvPr id="22" name="Text 16"/>
          <p:cNvSpPr txBox="1"/>
          <p:nvPr/>
        </p:nvSpPr>
        <p:spPr>
          <a:xfrm>
            <a:off x="822960" y="4754880"/>
            <a:ext cx="2971800" cy="960120"/>
          </a:xfrm>
          <a:prstGeom prst="rect">
            <a:avLst/>
          </a:prstGeom>
          <a:noFill/>
          <a:ln/>
        </p:spPr>
        <p:txBody>
          <a:bodyPr wrap="square" lIns="0" tIns="0" rIns="0" bIns="0" rtlCol="0" anchor="t"/>
          <a:lstStyle/>
          <a:p>
            <a:pPr indent="0" marL="0">
              <a:buNone/>
            </a:pPr>
            <a:r>
              <a:rPr lang="en-US" sz="1400" dirty="0">
                <a:solidFill>
                  <a:schemeClr val="tx1"/>
                </a:solidFill>
              </a:rPr>
              <a:t>Watch the exact moment users stall. The why behind the number</a:t>
            </a:r>
            <a:endParaRPr lang="en-US" sz="1400" dirty="0"/>
          </a:p>
        </p:txBody>
      </p:sp>
      <p:sp>
        <p:nvSpPr>
          <p:cNvPr id="23" name="card Server events"/>
          <p:cNvSpPr/>
          <p:nvPr/>
        </p:nvSpPr>
        <p:spPr>
          <a:xfrm>
            <a:off x="4297680" y="3749040"/>
            <a:ext cx="3474720" cy="1965960"/>
          </a:xfrm>
          <a:prstGeom prst="roundRect">
            <a:avLst>
              <a:gd name="adj" fmla="val 6977"/>
            </a:avLst>
          </a:prstGeom>
          <a:solidFill>
            <a:schemeClr val="bg2"/>
          </a:solidFill>
          <a:ln w="12700">
            <a:solidFill>
              <a:schemeClr val="bg2"/>
            </a:solidFill>
            <a:prstDash val="solid"/>
          </a:ln>
        </p:spPr>
      </p:sp>
      <p:sp>
        <p:nvSpPr>
          <p:cNvPr id="24" name="Server events icon circle"/>
          <p:cNvSpPr/>
          <p:nvPr/>
        </p:nvSpPr>
        <p:spPr>
          <a:xfrm>
            <a:off x="4572000" y="4023360"/>
            <a:ext cx="594360" cy="594360"/>
          </a:xfrm>
          <a:prstGeom prst="ellipse">
            <a:avLst/>
          </a:prstGeom>
          <a:solidFill>
            <a:schemeClr val="accent2"/>
          </a:solidFill>
          <a:ln w="12700">
            <a:solidFill>
              <a:schemeClr val="accent2"/>
            </a:solidFill>
            <a:prstDash val="solid"/>
          </a:ln>
        </p:spPr>
      </p:sp>
      <p:pic>
        <p:nvPicPr>
          <p:cNvPr id="25" name="Server events icon" descr="Server events icon">    </p:cNvPr>
          <p:cNvPicPr>
            <a:picLocks noChangeAspect="1"/>
          </p:cNvPicPr>
          <p:nvPr/>
        </p:nvPicPr>
        <p:blipFill>
          <a:blip r:embed="rId5"/>
          <a:stretch>
            <a:fillRect/>
          </a:stretch>
        </p:blipFill>
        <p:spPr>
          <a:xfrm>
            <a:off x="4720590" y="4171950"/>
            <a:ext cx="297180" cy="297180"/>
          </a:xfrm>
          <a:prstGeom prst="rect">
            <a:avLst/>
          </a:prstGeom>
        </p:spPr>
      </p:pic>
      <p:sp>
        <p:nvSpPr>
          <p:cNvPr id="26" name="Text 19"/>
          <p:cNvSpPr txBox="1"/>
          <p:nvPr/>
        </p:nvSpPr>
        <p:spPr>
          <a:xfrm>
            <a:off x="5349240" y="4023360"/>
            <a:ext cx="2286000" cy="594360"/>
          </a:xfrm>
          <a:prstGeom prst="rect">
            <a:avLst/>
          </a:prstGeom>
          <a:noFill/>
          <a:ln/>
        </p:spPr>
        <p:txBody>
          <a:bodyPr wrap="square" lIns="0" tIns="0" rIns="0" bIns="0" rtlCol="0" anchor="ctr"/>
          <a:lstStyle/>
          <a:p>
            <a:pPr indent="0" marL="0">
              <a:buNone/>
            </a:pPr>
            <a:r>
              <a:rPr lang="en-US" sz="1800" b="1" dirty="0">
                <a:solidFill>
                  <a:schemeClr val="tx1"/>
                </a:solidFill>
              </a:rPr>
              <a:t>Server events</a:t>
            </a:r>
            <a:endParaRPr lang="en-US" sz="1800" dirty="0"/>
          </a:p>
        </p:txBody>
      </p:sp>
      <p:sp>
        <p:nvSpPr>
          <p:cNvPr id="27" name="Text 20"/>
          <p:cNvSpPr txBox="1"/>
          <p:nvPr/>
        </p:nvSpPr>
        <p:spPr>
          <a:xfrm>
            <a:off x="4572000" y="4754880"/>
            <a:ext cx="2971800" cy="960120"/>
          </a:xfrm>
          <a:prstGeom prst="rect">
            <a:avLst/>
          </a:prstGeom>
          <a:noFill/>
          <a:ln/>
        </p:spPr>
        <p:txBody>
          <a:bodyPr wrap="square" lIns="0" tIns="0" rIns="0" bIns="0" rtlCol="0" anchor="t"/>
          <a:lstStyle/>
          <a:p>
            <a:pPr indent="0" marL="0">
              <a:buNone/>
            </a:pPr>
            <a:r>
              <a:rPr lang="en-US" sz="1400" dirty="0">
                <a:solidFill>
                  <a:schemeClr val="tx1"/>
                </a:solidFill>
              </a:rPr>
              <a:t>Billing outcomes on the same user timeline, usable as funnel steps</a:t>
            </a:r>
            <a:endParaRPr lang="en-US" sz="1400" dirty="0"/>
          </a:p>
        </p:txBody>
      </p:sp>
      <p:sp>
        <p:nvSpPr>
          <p:cNvPr id="28" name="card Scorecard dashboard"/>
          <p:cNvSpPr/>
          <p:nvPr/>
        </p:nvSpPr>
        <p:spPr>
          <a:xfrm>
            <a:off x="8046720" y="3749040"/>
            <a:ext cx="3474720" cy="1965960"/>
          </a:xfrm>
          <a:prstGeom prst="roundRect">
            <a:avLst>
              <a:gd name="adj" fmla="val 6977"/>
            </a:avLst>
          </a:prstGeom>
          <a:solidFill>
            <a:schemeClr val="bg2"/>
          </a:solidFill>
          <a:ln w="12700">
            <a:solidFill>
              <a:schemeClr val="bg2"/>
            </a:solidFill>
            <a:prstDash val="solid"/>
          </a:ln>
        </p:spPr>
      </p:sp>
      <p:sp>
        <p:nvSpPr>
          <p:cNvPr id="29" name="Scorecard dashboard icon circle"/>
          <p:cNvSpPr/>
          <p:nvPr/>
        </p:nvSpPr>
        <p:spPr>
          <a:xfrm>
            <a:off x="8321040" y="4023360"/>
            <a:ext cx="594360" cy="594360"/>
          </a:xfrm>
          <a:prstGeom prst="ellipse">
            <a:avLst/>
          </a:prstGeom>
          <a:solidFill>
            <a:schemeClr val="accent2"/>
          </a:solidFill>
          <a:ln w="12700">
            <a:solidFill>
              <a:schemeClr val="accent2"/>
            </a:solidFill>
            <a:prstDash val="solid"/>
          </a:ln>
        </p:spPr>
      </p:sp>
      <p:pic>
        <p:nvPicPr>
          <p:cNvPr id="30" name="Scorecard dashboard icon" descr="Scorecard dashboard icon">    </p:cNvPr>
          <p:cNvPicPr>
            <a:picLocks noChangeAspect="1"/>
          </p:cNvPicPr>
          <p:nvPr/>
        </p:nvPicPr>
        <p:blipFill>
          <a:blip r:embed="rId6"/>
          <a:stretch>
            <a:fillRect/>
          </a:stretch>
        </p:blipFill>
        <p:spPr>
          <a:xfrm>
            <a:off x="8469630" y="4171950"/>
            <a:ext cx="297180" cy="297180"/>
          </a:xfrm>
          <a:prstGeom prst="rect">
            <a:avLst/>
          </a:prstGeom>
        </p:spPr>
      </p:pic>
      <p:sp>
        <p:nvSpPr>
          <p:cNvPr id="31" name="Text 23"/>
          <p:cNvSpPr txBox="1"/>
          <p:nvPr/>
        </p:nvSpPr>
        <p:spPr>
          <a:xfrm>
            <a:off x="9098280" y="4023360"/>
            <a:ext cx="2286000" cy="594360"/>
          </a:xfrm>
          <a:prstGeom prst="rect">
            <a:avLst/>
          </a:prstGeom>
          <a:noFill/>
          <a:ln/>
        </p:spPr>
        <p:txBody>
          <a:bodyPr wrap="square" lIns="0" tIns="0" rIns="0" bIns="0" rtlCol="0" anchor="ctr"/>
          <a:lstStyle/>
          <a:p>
            <a:pPr indent="0" marL="0">
              <a:buNone/>
            </a:pPr>
            <a:r>
              <a:rPr lang="en-US" sz="1800" b="1" dirty="0">
                <a:solidFill>
                  <a:schemeClr val="tx1"/>
                </a:solidFill>
              </a:rPr>
              <a:t>Scorecard dashboard</a:t>
            </a:r>
            <a:endParaRPr lang="en-US" sz="1800" dirty="0"/>
          </a:p>
        </p:txBody>
      </p:sp>
      <p:sp>
        <p:nvSpPr>
          <p:cNvPr id="32" name="Text 24"/>
          <p:cNvSpPr txBox="1"/>
          <p:nvPr/>
        </p:nvSpPr>
        <p:spPr>
          <a:xfrm>
            <a:off x="8321040" y="4754880"/>
            <a:ext cx="2971800" cy="960120"/>
          </a:xfrm>
          <a:prstGeom prst="rect">
            <a:avLst/>
          </a:prstGeom>
          <a:noFill/>
          <a:ln/>
        </p:spPr>
        <p:txBody>
          <a:bodyPr wrap="square" lIns="0" tIns="0" rIns="0" bIns="0" rtlCol="0" anchor="t"/>
          <a:lstStyle/>
          <a:p>
            <a:pPr indent="0" marL="0">
              <a:buNone/>
            </a:pPr>
            <a:r>
              <a:rPr lang="en-US" sz="1400" dirty="0">
                <a:solidFill>
                  <a:schemeClr val="tx1"/>
                </a:solidFill>
              </a:rPr>
              <a:t>One weekly view Marketing owns: campaign and experiment health</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400" b="1" dirty="0">
                <a:solidFill>
                  <a:schemeClr val="tx1"/>
                </a:solidFill>
              </a:rPr>
              <a:t>The A/B "winner" wins signups and loses customers</a:t>
            </a:r>
            <a:endParaRPr lang="en-US" sz="3400" dirty="0"/>
          </a:p>
        </p:txBody>
      </p:sp>
      <p:graphicFrame>
        <p:nvGraphicFramePr>
          <p:cNvPr id="3" name="Chart 0" descr=""/>
          <p:cNvGraphicFramePr/>
          <p:nvPr/>
        </p:nvGraphicFramePr>
        <p:xfrm>
          <a:off x="548640" y="137160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766560" y="1417320"/>
            <a:ext cx="2514600" cy="822960"/>
          </a:xfrm>
          <a:prstGeom prst="rect">
            <a:avLst/>
          </a:prstGeom>
          <a:noFill/>
          <a:ln/>
        </p:spPr>
        <p:txBody>
          <a:bodyPr wrap="square" lIns="0" tIns="0" rIns="0" bIns="0" rtlCol="0" anchor="ctr"/>
          <a:lstStyle/>
          <a:p>
            <a:pPr indent="0" marL="0">
              <a:buNone/>
            </a:pPr>
            <a:r>
              <a:rPr lang="en-US" sz="3600" b="1" dirty="0">
                <a:solidFill>
                  <a:schemeClr val="accent1"/>
                </a:solidFill>
              </a:rPr>
              <a:t>+11%</a:t>
            </a:r>
            <a:endParaRPr lang="en-US" sz="3600" dirty="0"/>
          </a:p>
        </p:txBody>
      </p:sp>
      <p:sp>
        <p:nvSpPr>
          <p:cNvPr id="5" name="Text 2"/>
          <p:cNvSpPr txBox="1"/>
          <p:nvPr/>
        </p:nvSpPr>
        <p:spPr>
          <a:xfrm>
            <a:off x="9372600" y="1417320"/>
            <a:ext cx="2377440" cy="822960"/>
          </a:xfrm>
          <a:prstGeom prst="rect">
            <a:avLst/>
          </a:prstGeom>
          <a:noFill/>
          <a:ln/>
        </p:spPr>
        <p:txBody>
          <a:bodyPr wrap="square" lIns="0" tIns="0" rIns="0" bIns="0" rtlCol="0" anchor="ctr"/>
          <a:lstStyle/>
          <a:p>
            <a:pPr indent="0" marL="0">
              <a:buNone/>
            </a:pPr>
            <a:r>
              <a:rPr lang="en-US" sz="1300" dirty="0">
                <a:solidFill>
                  <a:schemeClr val="tx1"/>
                </a:solidFill>
              </a:rPr>
              <a:t>signups for annual_toggle. The A/B tool says ship it</a:t>
            </a:r>
            <a:endParaRPr lang="en-US" sz="1300" dirty="0"/>
          </a:p>
        </p:txBody>
      </p:sp>
      <p:sp>
        <p:nvSpPr>
          <p:cNvPr id="6" name="Text 3"/>
          <p:cNvSpPr txBox="1"/>
          <p:nvPr/>
        </p:nvSpPr>
        <p:spPr>
          <a:xfrm>
            <a:off x="6766560" y="2468880"/>
            <a:ext cx="2514600" cy="822960"/>
          </a:xfrm>
          <a:prstGeom prst="rect">
            <a:avLst/>
          </a:prstGeom>
          <a:noFill/>
          <a:ln/>
        </p:spPr>
        <p:txBody>
          <a:bodyPr wrap="square" lIns="0" tIns="0" rIns="0" bIns="0" rtlCol="0" anchor="ctr"/>
          <a:lstStyle/>
          <a:p>
            <a:pPr indent="0" marL="0">
              <a:buNone/>
            </a:pPr>
            <a:r>
              <a:rPr lang="en-US" sz="3600" b="1" dirty="0">
                <a:solidFill>
                  <a:schemeClr val="accent3"/>
                </a:solidFill>
              </a:rPr>
              <a:t>-88%</a:t>
            </a:r>
            <a:endParaRPr lang="en-US" sz="3600" dirty="0"/>
          </a:p>
        </p:txBody>
      </p:sp>
      <p:sp>
        <p:nvSpPr>
          <p:cNvPr id="7" name="Text 4"/>
          <p:cNvSpPr txBox="1"/>
          <p:nvPr/>
        </p:nvSpPr>
        <p:spPr>
          <a:xfrm>
            <a:off x="9372600" y="2468880"/>
            <a:ext cx="2377440" cy="822960"/>
          </a:xfrm>
          <a:prstGeom prst="rect">
            <a:avLst/>
          </a:prstGeom>
          <a:noFill/>
          <a:ln/>
        </p:spPr>
        <p:txBody>
          <a:bodyPr wrap="square" lIns="0" tIns="0" rIns="0" bIns="0" rtlCol="0" anchor="ctr"/>
          <a:lstStyle/>
          <a:p>
            <a:pPr indent="0" marL="0">
              <a:buNone/>
            </a:pPr>
            <a:r>
              <a:rPr lang="en-US" sz="1300" dirty="0">
                <a:solidFill>
                  <a:schemeClr val="tx1"/>
                </a:solidFill>
              </a:rPr>
              <a:t>paying customers per visitor vs control</a:t>
            </a:r>
            <a:endParaRPr lang="en-US" sz="1300" dirty="0"/>
          </a:p>
        </p:txBody>
      </p:sp>
      <p:sp>
        <p:nvSpPr>
          <p:cNvPr id="8" name="Text 5"/>
          <p:cNvSpPr txBox="1"/>
          <p:nvPr/>
        </p:nvSpPr>
        <p:spPr>
          <a:xfrm>
            <a:off x="6766560" y="3520440"/>
            <a:ext cx="2514600" cy="822960"/>
          </a:xfrm>
          <a:prstGeom prst="rect">
            <a:avLst/>
          </a:prstGeom>
          <a:noFill/>
          <a:ln/>
        </p:spPr>
        <p:txBody>
          <a:bodyPr wrap="square" lIns="0" tIns="0" rIns="0" bIns="0" rtlCol="0" anchor="ctr"/>
          <a:lstStyle/>
          <a:p>
            <a:pPr indent="0" marL="0">
              <a:buNone/>
            </a:pPr>
            <a:r>
              <a:rPr lang="en-US" sz="3600" b="1" dirty="0">
                <a:solidFill>
                  <a:schemeClr val="accent3"/>
                </a:solidFill>
              </a:rPr>
              <a:t>0% vs 8%</a:t>
            </a:r>
            <a:endParaRPr lang="en-US" sz="3600" dirty="0"/>
          </a:p>
        </p:txBody>
      </p:sp>
      <p:sp>
        <p:nvSpPr>
          <p:cNvPr id="9" name="Text 6"/>
          <p:cNvSpPr txBox="1"/>
          <p:nvPr/>
        </p:nvSpPr>
        <p:spPr>
          <a:xfrm>
            <a:off x="9372600" y="3520440"/>
            <a:ext cx="2377440" cy="822960"/>
          </a:xfrm>
          <a:prstGeom prst="rect">
            <a:avLst/>
          </a:prstGeom>
          <a:noFill/>
          <a:ln/>
        </p:spPr>
        <p:txBody>
          <a:bodyPr wrap="square" lIns="0" tIns="0" rIns="0" bIns="0" rtlCol="0" anchor="ctr"/>
          <a:lstStyle/>
          <a:p>
            <a:pPr indent="0" marL="0">
              <a:buNone/>
            </a:pPr>
            <a:r>
              <a:rPr lang="en-US" sz="1300" dirty="0">
                <a:solidFill>
                  <a:schemeClr val="tx1"/>
                </a:solidFill>
              </a:rPr>
              <a:t>paid, users who hit the broken "Monthly" toggle vs those who didn't (68% of visitors hit it)</a:t>
            </a:r>
            <a:endParaRPr lang="en-US" sz="1300" dirty="0"/>
          </a:p>
        </p:txBody>
      </p:sp>
      <p:sp>
        <p:nvSpPr>
          <p:cNvPr id="10" name="Text 7"/>
          <p:cNvSpPr txBox="1"/>
          <p:nvPr/>
        </p:nvSpPr>
        <p:spPr>
          <a:xfrm>
            <a:off x="548640" y="5486400"/>
            <a:ext cx="5852160" cy="320040"/>
          </a:xfrm>
          <a:prstGeom prst="rect">
            <a:avLst/>
          </a:prstGeom>
          <a:noFill/>
          <a:ln/>
        </p:spPr>
        <p:txBody>
          <a:bodyPr wrap="square" lIns="0" tIns="0" rIns="0" bIns="0" rtlCol="0" anchor="ctr"/>
          <a:lstStyle/>
          <a:p>
            <a:pPr indent="0" marL="0">
              <a:buNone/>
            </a:pPr>
            <a:r>
              <a:rPr lang="en-US" sz="1100" i="1" dirty="0">
                <a:solidFill>
                  <a:schemeClr val="accent5"/>
                </a:solidFill>
              </a:rPr>
              <a:t>n = 137 exposed visitors, 65 signups: directional, not statistically significant.</a:t>
            </a:r>
            <a:endParaRPr lang="en-US" sz="1100" dirty="0"/>
          </a:p>
        </p:txBody>
      </p:sp>
      <p:sp>
        <p:nvSpPr>
          <p:cNvPr id="11" name="campaign callout"/>
          <p:cNvSpPr/>
          <p:nvPr/>
        </p:nvSpPr>
        <p:spPr>
          <a:xfrm>
            <a:off x="6766560" y="4617720"/>
            <a:ext cx="4937760" cy="777240"/>
          </a:xfrm>
          <a:prstGeom prst="roundRect">
            <a:avLst>
              <a:gd name="adj" fmla="val 14118"/>
            </a:avLst>
          </a:prstGeom>
          <a:solidFill>
            <a:schemeClr val="bg2"/>
          </a:solidFill>
          <a:ln w="12700">
            <a:solidFill>
              <a:schemeClr val="bg2"/>
            </a:solidFill>
            <a:prstDash val="solid"/>
          </a:ln>
        </p:spPr>
      </p:sp>
      <p:sp>
        <p:nvSpPr>
          <p:cNvPr id="12" name="Text 9"/>
          <p:cNvSpPr txBox="1"/>
          <p:nvPr/>
        </p:nvSpPr>
        <p:spPr>
          <a:xfrm>
            <a:off x="6949440" y="4617720"/>
            <a:ext cx="4663440" cy="777240"/>
          </a:xfrm>
          <a:prstGeom prst="rect">
            <a:avLst/>
          </a:prstGeom>
          <a:noFill/>
          <a:ln/>
        </p:spPr>
        <p:txBody>
          <a:bodyPr wrap="square" lIns="0" tIns="0" rIns="0" bIns="0" rtlCol="0" anchor="ctr"/>
          <a:lstStyle/>
          <a:p>
            <a:pPr indent="0" marL="0">
              <a:buNone/>
            </a:pPr>
            <a:r>
              <a:rPr lang="en-US" sz="1300" b="1" dirty="0">
                <a:solidFill>
                  <a:schemeClr val="tx1"/>
                </a:solidFill>
              </a:rPr>
              <a:t>Campaigns: </a:t>
            </a:r>
            <a:pPr indent="0" marL="0">
              <a:buNone/>
            </a:pPr>
            <a:r>
              <a:rPr lang="en-US" sz="1300" dirty="0">
                <a:solidFill>
                  <a:schemeClr val="tx1"/>
                </a:solidFill>
              </a:rPr>
              <a:t>fall_promo drives 35 signups but 2.9% pay. accountant_partner: 18 signups, 38.9% pay (13.4x).</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6949440" cy="1005840"/>
          </a:xfrm>
          <a:prstGeom prst="rect">
            <a:avLst/>
          </a:prstGeom>
          <a:noFill/>
          <a:ln/>
        </p:spPr>
        <p:txBody>
          <a:bodyPr wrap="square" rtlCol="0" anchor="ctr"/>
          <a:lstStyle/>
          <a:p>
            <a:pPr algn="l" indent="0" marL="0">
              <a:buNone/>
            </a:pPr>
            <a:r>
              <a:rPr lang="en-US" sz="4000" b="1" dirty="0">
                <a:solidFill>
                  <a:schemeClr val="bg1"/>
                </a:solidFill>
              </a:rPr>
              <a:t>Business impact and next steps</a:t>
            </a:r>
            <a:endParaRPr lang="en-US" sz="4000" dirty="0"/>
          </a:p>
        </p:txBody>
      </p:sp>
      <p:sp>
        <p:nvSpPr>
          <p:cNvPr id="3" name="Text 0"/>
          <p:cNvSpPr/>
          <p:nvPr>
            <p:ph idx="101" type="body" hasCustomPrompt="1"/>
          </p:nvPr>
        </p:nvSpPr>
        <p:spPr>
          <a:xfrm>
            <a:off x="731520" y="1600200"/>
            <a:ext cx="6949440" cy="822960"/>
          </a:xfrm>
          <a:prstGeom prst="rect">
            <a:avLst/>
          </a:prstGeom>
          <a:noFill/>
          <a:ln/>
        </p:spPr>
        <p:txBody>
          <a:bodyPr wrap="square" rtlCol="0" anchor="t"/>
          <a:lstStyle/>
          <a:p>
            <a:pPr indent="0" marL="0">
              <a:buNone/>
            </a:pPr>
            <a:r>
              <a:rPr lang="en-US" sz="1800" dirty="0">
                <a:solidFill>
                  <a:schemeClr val="accent6"/>
                </a:solidFill>
              </a:rPr>
              <a:t>Faster, right decisions for Marketing: what to ship and where to spend.</a:t>
            </a:r>
            <a:endParaRPr lang="en-US" sz="1800" dirty="0"/>
          </a:p>
        </p:txBody>
      </p:sp>
      <p:sp>
        <p:nvSpPr>
          <p:cNvPr id="4" name="Fix, then re-test icon circle"/>
          <p:cNvSpPr/>
          <p:nvPr/>
        </p:nvSpPr>
        <p:spPr>
          <a:xfrm>
            <a:off x="731520" y="3017520"/>
            <a:ext cx="548640" cy="548640"/>
          </a:xfrm>
          <a:prstGeom prst="ellipse">
            <a:avLst/>
          </a:prstGeom>
          <a:solidFill>
            <a:schemeClr val="accent3"/>
          </a:solidFill>
          <a:ln w="12700">
            <a:solidFill>
              <a:schemeClr val="accent3"/>
            </a:solidFill>
            <a:prstDash val="solid"/>
          </a:ln>
        </p:spPr>
      </p:sp>
      <p:pic>
        <p:nvPicPr>
          <p:cNvPr id="5" name="Fix, then re-test icon" descr="Fix, then re-test icon">    </p:cNvPr>
          <p:cNvPicPr>
            <a:picLocks noChangeAspect="1"/>
          </p:cNvPicPr>
          <p:nvPr/>
        </p:nvPicPr>
        <p:blipFill>
          <a:blip r:embed="rId1"/>
          <a:stretch>
            <a:fillRect/>
          </a:stretch>
        </p:blipFill>
        <p:spPr>
          <a:xfrm>
            <a:off x="868680" y="3154680"/>
            <a:ext cx="274320" cy="274320"/>
          </a:xfrm>
          <a:prstGeom prst="rect">
            <a:avLst/>
          </a:prstGeom>
        </p:spPr>
      </p:pic>
      <p:sp>
        <p:nvSpPr>
          <p:cNvPr id="6" name="Text 3"/>
          <p:cNvSpPr txBox="1"/>
          <p:nvPr/>
        </p:nvSpPr>
        <p:spPr>
          <a:xfrm>
            <a:off x="1417320" y="3017520"/>
            <a:ext cx="2834640" cy="548640"/>
          </a:xfrm>
          <a:prstGeom prst="rect">
            <a:avLst/>
          </a:prstGeom>
          <a:noFill/>
          <a:ln/>
        </p:spPr>
        <p:txBody>
          <a:bodyPr wrap="square" lIns="0" tIns="0" rIns="0" bIns="0" rtlCol="0" anchor="ctr"/>
          <a:lstStyle/>
          <a:p>
            <a:pPr indent="0" marL="0">
              <a:buNone/>
            </a:pPr>
            <a:r>
              <a:rPr lang="en-US" sz="1800" b="1" dirty="0">
                <a:solidFill>
                  <a:schemeClr val="bg1"/>
                </a:solidFill>
              </a:rPr>
              <a:t>Fix, then re-test</a:t>
            </a:r>
            <a:endParaRPr lang="en-US" sz="1800" dirty="0"/>
          </a:p>
        </p:txBody>
      </p:sp>
      <p:sp>
        <p:nvSpPr>
          <p:cNvPr id="7" name="Text 4"/>
          <p:cNvSpPr txBox="1"/>
          <p:nvPr/>
        </p:nvSpPr>
        <p:spPr>
          <a:xfrm>
            <a:off x="731520" y="3794760"/>
            <a:ext cx="3429000" cy="1463040"/>
          </a:xfrm>
          <a:prstGeom prst="rect">
            <a:avLst/>
          </a:prstGeom>
          <a:noFill/>
          <a:ln/>
        </p:spPr>
        <p:txBody>
          <a:bodyPr wrap="square" lIns="0" tIns="0" rIns="0" bIns="0" rtlCol="0" anchor="t"/>
          <a:lstStyle/>
          <a:p>
            <a:pPr indent="0" marL="0">
              <a:buNone/>
            </a:pPr>
            <a:r>
              <a:rPr lang="en-US" sz="1400" dirty="0">
                <a:solidFill>
                  <a:schemeClr val="accent6"/>
                </a:solidFill>
              </a:rPr>
              <a:t>One-line bug fix. Re-run with Trial Converted as the primary metric, not signups.</a:t>
            </a:r>
            <a:endParaRPr lang="en-US" sz="1400" dirty="0"/>
          </a:p>
        </p:txBody>
      </p:sp>
      <p:sp>
        <p:nvSpPr>
          <p:cNvPr id="8" name="Re-allocate spend icon circle"/>
          <p:cNvSpPr/>
          <p:nvPr/>
        </p:nvSpPr>
        <p:spPr>
          <a:xfrm>
            <a:off x="4434840" y="3017520"/>
            <a:ext cx="548640" cy="548640"/>
          </a:xfrm>
          <a:prstGeom prst="ellipse">
            <a:avLst/>
          </a:prstGeom>
          <a:solidFill>
            <a:schemeClr val="accent2"/>
          </a:solidFill>
          <a:ln w="12700">
            <a:solidFill>
              <a:schemeClr val="accent2"/>
            </a:solidFill>
            <a:prstDash val="solid"/>
          </a:ln>
        </p:spPr>
      </p:sp>
      <p:pic>
        <p:nvPicPr>
          <p:cNvPr id="9" name="Re-allocate spend icon" descr="Re-allocate spend icon">    </p:cNvPr>
          <p:cNvPicPr>
            <a:picLocks noChangeAspect="1"/>
          </p:cNvPicPr>
          <p:nvPr/>
        </p:nvPicPr>
        <p:blipFill>
          <a:blip r:embed="rId2"/>
          <a:stretch>
            <a:fillRect/>
          </a:stretch>
        </p:blipFill>
        <p:spPr>
          <a:xfrm>
            <a:off x="4572000" y="3154680"/>
            <a:ext cx="274320" cy="274320"/>
          </a:xfrm>
          <a:prstGeom prst="rect">
            <a:avLst/>
          </a:prstGeom>
        </p:spPr>
      </p:pic>
      <p:sp>
        <p:nvSpPr>
          <p:cNvPr id="10" name="Text 6"/>
          <p:cNvSpPr txBox="1"/>
          <p:nvPr/>
        </p:nvSpPr>
        <p:spPr>
          <a:xfrm>
            <a:off x="5120640" y="3017520"/>
            <a:ext cx="2834640" cy="548640"/>
          </a:xfrm>
          <a:prstGeom prst="rect">
            <a:avLst/>
          </a:prstGeom>
          <a:noFill/>
          <a:ln/>
        </p:spPr>
        <p:txBody>
          <a:bodyPr wrap="square" lIns="0" tIns="0" rIns="0" bIns="0" rtlCol="0" anchor="ctr"/>
          <a:lstStyle/>
          <a:p>
            <a:pPr indent="0" marL="0">
              <a:buNone/>
            </a:pPr>
            <a:r>
              <a:rPr lang="en-US" sz="1800" b="1" dirty="0">
                <a:solidFill>
                  <a:schemeClr val="bg1"/>
                </a:solidFill>
              </a:rPr>
              <a:t>Re-allocate spend</a:t>
            </a:r>
            <a:endParaRPr lang="en-US" sz="1800" dirty="0"/>
          </a:p>
        </p:txBody>
      </p:sp>
      <p:sp>
        <p:nvSpPr>
          <p:cNvPr id="11" name="Text 7"/>
          <p:cNvSpPr txBox="1"/>
          <p:nvPr/>
        </p:nvSpPr>
        <p:spPr>
          <a:xfrm>
            <a:off x="4434840" y="3794760"/>
            <a:ext cx="3429000" cy="1463040"/>
          </a:xfrm>
          <a:prstGeom prst="rect">
            <a:avLst/>
          </a:prstGeom>
          <a:noFill/>
          <a:ln/>
        </p:spPr>
        <p:txBody>
          <a:bodyPr wrap="square" lIns="0" tIns="0" rIns="0" bIns="0" rtlCol="0" anchor="t"/>
          <a:lstStyle/>
          <a:p>
            <a:pPr indent="0" marL="0">
              <a:buNone/>
            </a:pPr>
            <a:r>
              <a:rPr lang="en-US" sz="1400" dirty="0">
                <a:solidFill>
                  <a:schemeClr val="accent6"/>
                </a:solidFill>
              </a:rPr>
              <a:t>Partner traffic pays at 13.4x the promo's rate. Move budget toward it.</a:t>
            </a:r>
            <a:endParaRPr lang="en-US" sz="1400" dirty="0"/>
          </a:p>
        </p:txBody>
      </p:sp>
      <p:sp>
        <p:nvSpPr>
          <p:cNvPr id="12" name="Make it routine icon circle"/>
          <p:cNvSpPr/>
          <p:nvPr/>
        </p:nvSpPr>
        <p:spPr>
          <a:xfrm>
            <a:off x="8138160" y="3017520"/>
            <a:ext cx="548640" cy="548640"/>
          </a:xfrm>
          <a:prstGeom prst="ellipse">
            <a:avLst/>
          </a:prstGeom>
          <a:solidFill>
            <a:schemeClr val="accent1"/>
          </a:solidFill>
          <a:ln w="12700">
            <a:solidFill>
              <a:schemeClr val="accent1"/>
            </a:solidFill>
            <a:prstDash val="solid"/>
          </a:ln>
        </p:spPr>
      </p:sp>
      <p:pic>
        <p:nvPicPr>
          <p:cNvPr id="13" name="Make it routine icon" descr="Make it routine icon">    </p:cNvPr>
          <p:cNvPicPr>
            <a:picLocks noChangeAspect="1"/>
          </p:cNvPicPr>
          <p:nvPr/>
        </p:nvPicPr>
        <p:blipFill>
          <a:blip r:embed="rId3"/>
          <a:stretch>
            <a:fillRect/>
          </a:stretch>
        </p:blipFill>
        <p:spPr>
          <a:xfrm>
            <a:off x="8275320" y="3154680"/>
            <a:ext cx="274320" cy="274320"/>
          </a:xfrm>
          <a:prstGeom prst="rect">
            <a:avLst/>
          </a:prstGeom>
        </p:spPr>
      </p:pic>
      <p:sp>
        <p:nvSpPr>
          <p:cNvPr id="14" name="Text 9"/>
          <p:cNvSpPr txBox="1"/>
          <p:nvPr/>
        </p:nvSpPr>
        <p:spPr>
          <a:xfrm>
            <a:off x="8823960" y="3017520"/>
            <a:ext cx="2834640" cy="548640"/>
          </a:xfrm>
          <a:prstGeom prst="rect">
            <a:avLst/>
          </a:prstGeom>
          <a:noFill/>
          <a:ln/>
        </p:spPr>
        <p:txBody>
          <a:bodyPr wrap="square" lIns="0" tIns="0" rIns="0" bIns="0" rtlCol="0" anchor="ctr"/>
          <a:lstStyle/>
          <a:p>
            <a:pPr indent="0" marL="0">
              <a:buNone/>
            </a:pPr>
            <a:r>
              <a:rPr lang="en-US" sz="1800" b="1" dirty="0">
                <a:solidFill>
                  <a:schemeClr val="bg1"/>
                </a:solidFill>
              </a:rPr>
              <a:t>Make it routine</a:t>
            </a:r>
            <a:endParaRPr lang="en-US" sz="1800" dirty="0"/>
          </a:p>
        </p:txBody>
      </p:sp>
      <p:sp>
        <p:nvSpPr>
          <p:cNvPr id="15" name="Text 10"/>
          <p:cNvSpPr txBox="1"/>
          <p:nvPr/>
        </p:nvSpPr>
        <p:spPr>
          <a:xfrm>
            <a:off x="8138160" y="3794760"/>
            <a:ext cx="3429000" cy="1463040"/>
          </a:xfrm>
          <a:prstGeom prst="rect">
            <a:avLst/>
          </a:prstGeom>
          <a:noFill/>
          <a:ln/>
        </p:spPr>
        <p:txBody>
          <a:bodyPr wrap="square" lIns="0" tIns="0" rIns="0" bIns="0" rtlCol="0" anchor="t"/>
          <a:lstStyle/>
          <a:p>
            <a:pPr indent="0" marL="0">
              <a:buNone/>
            </a:pPr>
            <a:r>
              <a:rPr lang="en-US" sz="1400" dirty="0">
                <a:solidFill>
                  <a:schemeClr val="accent6"/>
                </a:solidFill>
              </a:rPr>
              <a:t>Weekly scorecard dashboard. Every new test uses the exp_ pattern. Phase 2: alerts to Slack, warehouse export, consent.</a:t>
            </a:r>
            <a:endParaRPr lang="en-US" sz="1400" dirty="0"/>
          </a:p>
        </p:txBody>
      </p:sp>
      <p:sp>
        <p:nvSpPr>
          <p:cNvPr id="16" name="Text 11"/>
          <p:cNvSpPr txBox="1"/>
          <p:nvPr/>
        </p:nvSpPr>
        <p:spPr>
          <a:xfrm>
            <a:off x="8138160" y="548640"/>
            <a:ext cx="3566160" cy="914400"/>
          </a:xfrm>
          <a:prstGeom prst="rect">
            <a:avLst/>
          </a:prstGeom>
          <a:noFill/>
          <a:ln/>
        </p:spPr>
        <p:txBody>
          <a:bodyPr wrap="square" lIns="0" tIns="0" rIns="0" bIns="0" rtlCol="0" anchor="ctr"/>
          <a:lstStyle/>
          <a:p>
            <a:pPr algn="r" indent="0" marL="0">
              <a:buNone/>
            </a:pPr>
            <a:r>
              <a:rPr lang="en-US" sz="4800" b="1" dirty="0">
                <a:solidFill>
                  <a:schemeClr val="accent2"/>
                </a:solidFill>
              </a:rPr>
              <a:t>$19,550</a:t>
            </a:r>
            <a:endParaRPr lang="en-US" sz="4800" dirty="0"/>
          </a:p>
        </p:txBody>
      </p:sp>
      <p:sp>
        <p:nvSpPr>
          <p:cNvPr id="17" name="Text 12"/>
          <p:cNvSpPr txBox="1"/>
          <p:nvPr/>
        </p:nvSpPr>
        <p:spPr>
          <a:xfrm>
            <a:off x="8138160" y="1463040"/>
            <a:ext cx="3566160" cy="914400"/>
          </a:xfrm>
          <a:prstGeom prst="rect">
            <a:avLst/>
          </a:prstGeom>
          <a:noFill/>
          <a:ln/>
        </p:spPr>
        <p:txBody>
          <a:bodyPr wrap="square" lIns="0" tIns="0" rIns="0" bIns="0" rtlCol="0" anchor="ctr"/>
          <a:lstStyle/>
          <a:p>
            <a:pPr algn="r" indent="0" marL="0">
              <a:buNone/>
            </a:pPr>
            <a:r>
              <a:rPr lang="en-US" sz="1400" dirty="0">
                <a:solidFill>
                  <a:schemeClr val="accent6"/>
                </a:solidFill>
              </a:rPr>
              <a:t>MRR lost per 10k pricing visitors if annual_toggle ships as-is (at ~$17 blended MRR)</a:t>
            </a:r>
            <a:endParaRPr lang="en-US" sz="1400" dirty="0"/>
          </a:p>
        </p:txBody>
      </p:sp>
      <p:sp>
        <p:nvSpPr>
          <p:cNvPr id="19" name="Text 13"/>
          <p:cNvSpPr txBox="1"/>
          <p:nvPr/>
        </p:nvSpPr>
        <p:spPr>
          <a:xfrm>
            <a:off x="731520" y="5943600"/>
            <a:ext cx="10058400" cy="365760"/>
          </a:xfrm>
          <a:prstGeom prst="rect">
            <a:avLst/>
          </a:prstGeom>
          <a:noFill/>
          <a:ln/>
        </p:spPr>
        <p:txBody>
          <a:bodyPr wrap="square" lIns="0" tIns="0" rIns="0" bIns="0" rtlCol="0" anchor="ctr"/>
          <a:lstStyle/>
          <a:p>
            <a:pPr indent="0" marL="0">
              <a:buNone/>
            </a:pPr>
            <a:r>
              <a:rPr lang="en-US" sz="1200" i="1" dirty="0">
                <a:solidFill>
                  <a:schemeClr val="accent5"/>
                </a:solidFill>
              </a:rPr>
              <a:t>Synthetic data, planted story: the method is the deliverable, the numbers are illustrative.</a:t>
            </a:r>
            <a:endParaRPr lang="en-US" sz="1200" dirty="0"/>
          </a:p>
        </p:txBody>
      </p:sp>
    </p:spTree>
  </p:cSld>
  <p:clrMapOvr>
    <a:masterClrMapping/>
  </p:clrMapOvr>
</p:sld>
</file>

<file path=ppt/theme/theme1.xml><?xml version="1.0" encoding="utf-8"?>
<a:theme xmlns:a="http://schemas.openxmlformats.org/drawingml/2006/main" name="Ledgerly">
  <a:themeElements>
    <a:clrScheme name="Ledgerly">
      <a:dk1>
        <a:srgbClr val="1B1F3B"/>
      </a:dk1>
      <a:lt1>
        <a:srgbClr val="FFFFFF"/>
      </a:lt1>
      <a:dk2>
        <a:srgbClr val="4F46E5"/>
      </a:dk2>
      <a:lt2>
        <a:srgbClr val="F2F3F9"/>
      </a:lt2>
      <a:accent1>
        <a:srgbClr val="4F46E5"/>
      </a:accent1>
      <a:accent2>
        <a:srgbClr val="10B981"/>
      </a:accent2>
      <a:accent3>
        <a:srgbClr val="EF5B5B"/>
      </a:accent3>
      <a:accent4>
        <a:srgbClr val="F5B841"/>
      </a:accent4>
      <a:accent5>
        <a:srgbClr val="64748B"/>
      </a:accent5>
      <a:accent6>
        <a:srgbClr val="C7D2FE"/>
      </a:accent6>
      <a:hlink>
        <a:srgbClr val="4F46E5"/>
      </a:hlink>
      <a:folHlink>
        <a:srgbClr val="3730A3"/>
      </a:folHlink>
    </a:clrScheme>
    <a:fontScheme name="Ledgerl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Ledgerly x Fullstory: did the campaign make money?</dc:title>
  <dc:subject>PptxGenJS Presentation</dc:subject>
  <dc:creator>PptxGenJS</dc:creator>
  <cp:lastModifiedBy>PptxGenJS</cp:lastModifiedBy>
  <cp:revision>1</cp:revision>
  <dcterms:created xsi:type="dcterms:W3CDTF">2026-10-25T17:43:35Z</dcterms:created>
  <dcterms:modified xsi:type="dcterms:W3CDTF">2026-10-25T17:43:35Z</dcterms:modified>
</cp:coreProperties>
</file>